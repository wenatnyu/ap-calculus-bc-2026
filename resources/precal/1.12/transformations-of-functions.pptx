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3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4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5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6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7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8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d32960bbc743ee" /><Relationship Type="http://schemas.openxmlformats.org/officeDocument/2006/relationships/extended-properties" Target="/docProps/app.xml" Id="R111784cf8ea940b1" /><Relationship Type="http://schemas.openxmlformats.org/officeDocument/2006/relationships/officeDocument" Target="/ppt/presentation.xml" Id="R0d72b41f235040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1eef0b4e674be9"/>
  </p:sldMasterIdLst>
  <p:notesMasterIdLst>
    <p:notesMasterId xmlns:r="http://schemas.openxmlformats.org/officeDocument/2006/relationships" r:id="R2ca0538100904a9b"/>
  </p:notesMasterIdLst>
  <p:sldIdLst>
    <p:sldId xmlns:r="http://schemas.openxmlformats.org/officeDocument/2006/relationships" id="256" r:id="R6d3f2a233da04a39"/>
    <p:sldId xmlns:r="http://schemas.openxmlformats.org/officeDocument/2006/relationships" id="257" r:id="Rf07f77add3864dc9"/>
    <p:sldId xmlns:r="http://schemas.openxmlformats.org/officeDocument/2006/relationships" id="258" r:id="R7b4a92613fa24104"/>
    <p:sldId xmlns:r="http://schemas.openxmlformats.org/officeDocument/2006/relationships" id="259" r:id="Rf7bdeb8e89a24b51"/>
    <p:sldId xmlns:r="http://schemas.openxmlformats.org/officeDocument/2006/relationships" id="260" r:id="Rf96a6bc8e385461e"/>
    <p:sldId xmlns:r="http://schemas.openxmlformats.org/officeDocument/2006/relationships" id="261" r:id="Rec45e55d6740474a"/>
    <p:sldId xmlns:r="http://schemas.openxmlformats.org/officeDocument/2006/relationships" id="262" r:id="R7b9209d26410466c"/>
    <p:sldId xmlns:r="http://schemas.openxmlformats.org/officeDocument/2006/relationships" id="263" r:id="R90a5f600f9f248e8"/>
    <p:sldId xmlns:r="http://schemas.openxmlformats.org/officeDocument/2006/relationships" id="264" r:id="R9e02a11367d24486"/>
    <p:sldId xmlns:r="http://schemas.openxmlformats.org/officeDocument/2006/relationships" id="265" r:id="Rf39a136ea1ca42a9"/>
    <p:sldId xmlns:r="http://schemas.openxmlformats.org/officeDocument/2006/relationships" id="266" r:id="Rb5cf4929ad0b40cf"/>
    <p:sldId xmlns:r="http://schemas.openxmlformats.org/officeDocument/2006/relationships" id="267" r:id="R590daafdfe884e7f"/>
    <p:sldId xmlns:r="http://schemas.openxmlformats.org/officeDocument/2006/relationships" id="268" r:id="Rb434d36caac144e0"/>
    <p:sldId xmlns:r="http://schemas.openxmlformats.org/officeDocument/2006/relationships" id="269" r:id="R9919273a9fcb4e5b"/>
    <p:sldId xmlns:r="http://schemas.openxmlformats.org/officeDocument/2006/relationships" id="270" r:id="R9b49f2c0750e47be"/>
    <p:sldId xmlns:r="http://schemas.openxmlformats.org/officeDocument/2006/relationships" id="271" r:id="R4024469f0c2841a9"/>
    <p:sldId xmlns:r="http://schemas.openxmlformats.org/officeDocument/2006/relationships" id="272" r:id="R98e580b164764c45"/>
    <p:sldId xmlns:r="http://schemas.openxmlformats.org/officeDocument/2006/relationships" id="273" r:id="R46c4e26c239c49fa"/>
    <p:sldId xmlns:r="http://schemas.openxmlformats.org/officeDocument/2006/relationships" id="274" r:id="Rd1770a66199b465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ff10c5d1d444c3" /><Relationship Type="http://schemas.openxmlformats.org/officeDocument/2006/relationships/slideMaster" Target="/ppt/slideMasters/slideMaster1.xml" Id="Rb61eef0b4e674be9" /><Relationship Type="http://schemas.openxmlformats.org/officeDocument/2006/relationships/notesMaster" Target="/ppt/notesMasters/notesMaster1.xml" Id="R2ca0538100904a9b" /><Relationship Type="http://schemas.openxmlformats.org/officeDocument/2006/relationships/presProps" Target="/ppt/presProps.xml" Id="R202235467d114ace" /><Relationship Type="http://schemas.openxmlformats.org/officeDocument/2006/relationships/tableStyles" Target="/ppt/tableStyles.xml" Id="Re9c0d80d2a1b4983" /><Relationship Type="http://schemas.openxmlformats.org/officeDocument/2006/relationships/slide" Target="/ppt/slides/slide1.xml" Id="R6d3f2a233da04a39" /><Relationship Type="http://schemas.openxmlformats.org/officeDocument/2006/relationships/slide" Target="/ppt/slides/slide2.xml" Id="Rf07f77add3864dc9" /><Relationship Type="http://schemas.openxmlformats.org/officeDocument/2006/relationships/slide" Target="/ppt/slides/slide3.xml" Id="R7b4a92613fa24104" /><Relationship Type="http://schemas.openxmlformats.org/officeDocument/2006/relationships/slide" Target="/ppt/slides/slide4.xml" Id="Rf7bdeb8e89a24b51" /><Relationship Type="http://schemas.openxmlformats.org/officeDocument/2006/relationships/slide" Target="/ppt/slides/slide5.xml" Id="Rf96a6bc8e385461e" /><Relationship Type="http://schemas.openxmlformats.org/officeDocument/2006/relationships/slide" Target="/ppt/slides/slide6.xml" Id="Rec45e55d6740474a" /><Relationship Type="http://schemas.openxmlformats.org/officeDocument/2006/relationships/slide" Target="/ppt/slides/slide7.xml" Id="R7b9209d26410466c" /><Relationship Type="http://schemas.openxmlformats.org/officeDocument/2006/relationships/slide" Target="/ppt/slides/slide8.xml" Id="R90a5f600f9f248e8" /><Relationship Type="http://schemas.openxmlformats.org/officeDocument/2006/relationships/slide" Target="/ppt/slides/slide9.xml" Id="R9e02a11367d24486" /><Relationship Type="http://schemas.openxmlformats.org/officeDocument/2006/relationships/slide" Target="/ppt/slides/slide10.xml" Id="Rf39a136ea1ca42a9" /><Relationship Type="http://schemas.openxmlformats.org/officeDocument/2006/relationships/slide" Target="/ppt/slides/slide11.xml" Id="Rb5cf4929ad0b40cf" /><Relationship Type="http://schemas.openxmlformats.org/officeDocument/2006/relationships/slide" Target="/ppt/slides/slide12.xml" Id="R590daafdfe884e7f" /><Relationship Type="http://schemas.openxmlformats.org/officeDocument/2006/relationships/slide" Target="/ppt/slides/slide13.xml" Id="Rb434d36caac144e0" /><Relationship Type="http://schemas.openxmlformats.org/officeDocument/2006/relationships/slide" Target="/ppt/slides/slide14.xml" Id="R9919273a9fcb4e5b" /><Relationship Type="http://schemas.openxmlformats.org/officeDocument/2006/relationships/slide" Target="/ppt/slides/slide15.xml" Id="R9b49f2c0750e47be" /><Relationship Type="http://schemas.openxmlformats.org/officeDocument/2006/relationships/slide" Target="/ppt/slides/slide16.xml" Id="R4024469f0c2841a9" /><Relationship Type="http://schemas.openxmlformats.org/officeDocument/2006/relationships/slide" Target="/ppt/slides/slide17.xml" Id="R98e580b164764c45" /><Relationship Type="http://schemas.openxmlformats.org/officeDocument/2006/relationships/slide" Target="/ppt/slides/slide18.xml" Id="R46c4e26c239c49fa" /><Relationship Type="http://schemas.openxmlformats.org/officeDocument/2006/relationships/slide" Target="/ppt/slides/slide19.xml" Id="Rd1770a66199b46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14827973b347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0dd08846d144ef" /><Relationship Type="http://schemas.openxmlformats.org/officeDocument/2006/relationships/notesMaster" Target="/ppt/notesMasters/notesMaster1.xml" Id="Re2775098a15449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7ff0a1376145c5" /><Relationship Type="http://schemas.openxmlformats.org/officeDocument/2006/relationships/notesMaster" Target="/ppt/notesMasters/notesMaster1.xml" Id="Rf6a5749d39d14d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41fa8a08024a7a" /><Relationship Type="http://schemas.openxmlformats.org/officeDocument/2006/relationships/notesMaster" Target="/ppt/notesMasters/notesMaster1.xml" Id="R3fedba1f54ce4b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a1096ae7bb436f" /><Relationship Type="http://schemas.openxmlformats.org/officeDocument/2006/relationships/notesMaster" Target="/ppt/notesMasters/notesMaster1.xml" Id="Rad391adf71d241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20c673adff4b80" /><Relationship Type="http://schemas.openxmlformats.org/officeDocument/2006/relationships/notesMaster" Target="/ppt/notesMasters/notesMaster1.xml" Id="Rb43e871a7c8e4c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f5bb2a32704953" /><Relationship Type="http://schemas.openxmlformats.org/officeDocument/2006/relationships/notesMaster" Target="/ppt/notesMasters/notesMaster1.xml" Id="Rd8ae9598a46146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444c31771743ec" /><Relationship Type="http://schemas.openxmlformats.org/officeDocument/2006/relationships/notesMaster" Target="/ppt/notesMasters/notesMaster1.xml" Id="R7c413ea3dba4474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79ac5546907424c" /><Relationship Type="http://schemas.openxmlformats.org/officeDocument/2006/relationships/notesMaster" Target="/ppt/notesMasters/notesMaster1.xml" Id="Rb6fda17b35c84a1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19ccf1d161340fc" /><Relationship Type="http://schemas.openxmlformats.org/officeDocument/2006/relationships/notesMaster" Target="/ppt/notesMasters/notesMaster1.xml" Id="R2e978e79df37466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488dcfc9eea4e9a" /><Relationship Type="http://schemas.openxmlformats.org/officeDocument/2006/relationships/notesMaster" Target="/ppt/notesMasters/notesMaster1.xml" Id="R7f73c559caf044e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3f45b24a0af44fe" /><Relationship Type="http://schemas.openxmlformats.org/officeDocument/2006/relationships/notesMaster" Target="/ppt/notesMasters/notesMaster1.xml" Id="R1936682dc44f4ac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faad649c9054db8" /><Relationship Type="http://schemas.openxmlformats.org/officeDocument/2006/relationships/notesMaster" Target="/ppt/notesMasters/notesMaster1.xml" Id="R0a4d276f7fa444b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e76c40c9fd34843" /><Relationship Type="http://schemas.openxmlformats.org/officeDocument/2006/relationships/notesMaster" Target="/ppt/notesMasters/notesMaster1.xml" Id="Rbf3d08a9a2844e1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3d9683ac8704f70" /><Relationship Type="http://schemas.openxmlformats.org/officeDocument/2006/relationships/notesMaster" Target="/ppt/notesMasters/notesMaster1.xml" Id="R97d3116e058848e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5a50ccb5869418c" /><Relationship Type="http://schemas.openxmlformats.org/officeDocument/2006/relationships/notesMaster" Target="/ppt/notesMasters/notesMaster1.xml" Id="R2925d3e718d74c5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7493c1aeb0c45f8" /><Relationship Type="http://schemas.openxmlformats.org/officeDocument/2006/relationships/notesMaster" Target="/ppt/notesMasters/notesMaster1.xml" Id="Rf9991365f747445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a91458863ee4630" /><Relationship Type="http://schemas.openxmlformats.org/officeDocument/2006/relationships/notesMaster" Target="/ppt/notesMasters/notesMaster1.xml" Id="R480a89a8fc6e4e7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bdfae40eb604546" /><Relationship Type="http://schemas.openxmlformats.org/officeDocument/2006/relationships/notesMaster" Target="/ppt/notesMasters/notesMaster1.xml" Id="R36c630ae8da142e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36f633d48e743a0" /><Relationship Type="http://schemas.openxmlformats.org/officeDocument/2006/relationships/notesMaster" Target="/ppt/notesMasters/notesMaster1.xml" Id="R0b8d585a5a3144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0:00–1:00（1分钟）</a:t>
            </a:r>
          </a:p>
          <a:p xmlns:a="http://schemas.openxmlformats.org/drawingml/2006/main">
            <a:r>
              <a:t>开场：今天将用同一个函数，解释式子改变后每个点去了哪里。假定学生已会读函数图像和函数值。</a:t>
            </a:r>
          </a:p>
          <a:p xmlns:a="http://schemas.openxmlformats.org/drawingml/2006/main">
            <a:r>
              <a:t>英文开场：“If I change the input, how does the graph move?”</a:t>
            </a:r>
          </a:p>
          <a:p xmlns:a="http://schemas.openxmlformats.org/drawingml/2006/main">
            <a:r>
              <a:t>学习结果：用输入与输出解释变换；由点、图、表构造新函数；判断新定义域和值域。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课程依据：https://apcentral.collegeboard.org/media/pdf/ap-precalculus-course-and-exam-description.pdf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1:00–4:00（3分钟）</a:t>
            </a:r>
          </a:p>
          <a:p xmlns:a="http://schemas.openxmlformats.org/drawingml/2006/main">
            <a:r>
              <a:t>先给30秒独立思考，再让同桌解释。图上 f(1)=2。</a:t>
            </a:r>
          </a:p>
          <a:p xmlns:a="http://schemas.openxmlformats.org/drawingml/2006/main">
            <a:r>
              <a:t>提问：“Which change keeps the input equal to 1?”</a:t>
            </a:r>
          </a:p>
          <a:p xmlns:a="http://schemas.openxmlformats.org/drawingml/2006/main">
            <a:r>
              <a:t>答案：g(x)=f(x)+3 时点变为(1,5)；h(x)=f(x−3) 时点变为(4,2)。先收集判断，不急于要求背口诀。若函数值读取困难，补一句 f(1)=2 说明输入1得到输出2。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课程依据：https://apcentral.collegeboard.org/media/pdf/ap-precalculus-course-and-exam-description.pdf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4:00–7:00（3分钟）</a:t>
            </a:r>
          </a:p>
          <a:p xmlns:a="http://schemas.openxmlformats.org/drawingml/2006/main">
            <a:r>
              <a:t>用同一个输入1比较 f(1) 与 g(1)。所有输出增加3，输入不变。</a:t>
            </a:r>
          </a:p>
          <a:p xmlns:a="http://schemas.openxmlformats.org/drawingml/2006/main">
            <a:r>
              <a:t>关键英文：“The input stays the same. Every output increases by three.”</a:t>
            </a:r>
          </a:p>
          <a:p xmlns:a="http://schemas.openxmlformats.org/drawingml/2006/main">
            <a:r>
              <a:t>从(−1,4)口头追问得到(−1,7)。负k即向下平移；请一位学生解释 f(x)−2。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课程依据：https://apcentral.collegeboard.org/media/pdf/ap-precalculus-course-and-exam-description.pdf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7:00–11:00（4分钟）</a:t>
            </a:r>
          </a:p>
          <a:p xmlns:a="http://schemas.openxmlformats.org/drawingml/2006/main">
            <a:r>
              <a:t>不要只报“左加右减”。先锁定旧输入1：要让 f(x−2) 继续取到 f(1)，必须 x−2=1，所以新横坐标3。</a:t>
            </a:r>
          </a:p>
          <a:p xmlns:a="http://schemas.openxmlformats.org/drawingml/2006/main">
            <a:r>
              <a:t>英文：“What must the new input be so that the expression inside f is still one?”</a:t>
            </a:r>
          </a:p>
          <a:p xmlns:a="http://schemas.openxmlformats.org/drawingml/2006/main">
            <a:r>
              <a:t>(1,2)变为(3,2)。一般( u,v )变为( u+2,v )。给学生20秒解释为什么 f(x+2) 反而左移2。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课程依据：https://apcentral.collegeboard.org/media/pdf/ap-precalculus-course-and-exam-description.pdf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11:00–13:00（2分钟）</a:t>
            </a:r>
          </a:p>
          <a:p xmlns:a="http://schemas.openxmlformats.org/drawingml/2006/main">
            <a:r>
              <a:t>全员同时用手指或纸上答。给定 f(2)=5。</a:t>
            </a:r>
          </a:p>
          <a:p xmlns:a="http://schemas.openxmlformats.org/drawingml/2006/main">
            <a:r>
              <a:t>答案：A为(2,1)；B为(−2,5)；C为(6,5)。追问：“Which equation did you solve to locate the new input?”</a:t>
            </a:r>
          </a:p>
          <a:p xmlns:a="http://schemas.openxmlformats.org/drawingml/2006/main">
            <a:r>
              <a:t>若超过约三分之一学生把B和C写反，追加20秒用 x+4=2 说明，压缩后面的反射讲解。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课程依据：https://apcentral.collegeboard.org/media/pdf/ap-precalculus-course-and-exam-description.pdf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13:00–16:00（3分钟）</a:t>
            </a:r>
          </a:p>
          <a:p xmlns:a="http://schemas.openxmlformats.org/drawingml/2006/main">
            <a:r>
              <a:t>先说明2f(x)把输出乘2，横坐标不变。若0&lt;|a|&lt;1则竖直压缩。a&lt;0同时关于x轴反射。</a:t>
            </a:r>
          </a:p>
          <a:p xmlns:a="http://schemas.openxmlformats.org/drawingml/2006/main">
            <a:r>
              <a:t>用同一点(1,2)分别得到(1,4)、(1,1)、(1,−4)。图展示原图与−2f(x)，让学生指出最大输出4如何变成−8。</a:t>
            </a:r>
          </a:p>
          <a:p xmlns:a="http://schemas.openxmlformats.org/drawingml/2006/main">
            <a:r>
              <a:t>英文：“A negative multiplier changes the side of the x-axis.”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课程依据：https://apcentral.collegeboard.org/media/pdf/ap-precalculus-course-and-exam-description.pdf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16:00–20:00（4分钟）</a:t>
            </a:r>
          </a:p>
          <a:p xmlns:a="http://schemas.openxmlformats.org/drawingml/2006/main">
            <a:r>
              <a:t>重点难点。旧点(1,2)，g(x)=f(2x)必须2x=1，所以新x=1/2。旧横坐标全部除以2，图变窄。</a:t>
            </a:r>
          </a:p>
          <a:p xmlns:a="http://schemas.openxmlformats.org/drawingml/2006/main">
            <a:r>
              <a:t>对f(x/2)，解x/2=1得到新x=2，图变宽。</a:t>
            </a:r>
          </a:p>
          <a:p xmlns:a="http://schemas.openxmlformats.org/drawingml/2006/main">
            <a:r>
              <a:t>英文：“The input inside f must match the old input.”</a:t>
            </a:r>
          </a:p>
          <a:p xmlns:a="http://schemas.openxmlformats.org/drawingml/2006/main">
            <a:r>
              <a:t>避免用二次函数作为唯一例子，否则水平压缩与竖直伸长可能看起来等价。这里采用不对称分段线性图。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课程依据：https://apcentral.collegeboard.org/media/pdf/ap-precalculus-course-and-exam-description.pdf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20:00–22:00（2分钟）</a:t>
            </a:r>
          </a:p>
          <a:p xmlns:a="http://schemas.openxmlformats.org/drawingml/2006/main">
            <a:r>
              <a:t>令g(x)=f(−x)。为了取到旧输入u，解−x=u，所以x=−u。输出不变，关于y轴反射。</a:t>
            </a:r>
          </a:p>
          <a:p xmlns:a="http://schemas.openxmlformats.org/drawingml/2006/main">
            <a:r>
              <a:t>让学生比较−f(x)与f(−x)，分别影响输出和输入。</a:t>
            </a:r>
          </a:p>
          <a:p xmlns:a="http://schemas.openxmlformats.org/drawingml/2006/main">
            <a:r>
              <a:t>答案：原点(−1,4)在新图对应(1,4)。英文：“Which coordinate changes sign?”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课程依据：https://apcentral.collegeboard.org/media/pdf/ap-precalculus-course-and-exam-description.pdf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22:00–24:00（2分钟）</a:t>
            </a:r>
          </a:p>
          <a:p xmlns:a="http://schemas.openxmlformats.org/drawingml/2006/main">
            <a:r>
              <a:t>让学生纠错，不直接宣布结论。题目给f(4)=6，g(x)=f(2x)。错误是把里面的2当成横坐标乘2。正确点(2,6)，因为g(2)=f(4)=6。</a:t>
            </a:r>
          </a:p>
          <a:p xmlns:a="http://schemas.openxmlformats.org/drawingml/2006/main">
            <a:r>
              <a:t>英文：“Can you disprove the claim using one point?”</a:t>
            </a:r>
          </a:p>
          <a:p xmlns:a="http://schemas.openxmlformats.org/drawingml/2006/main">
            <a:r>
              <a:t>这题作为进入复合变换前的理解检查。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课程依据：https://apcentral.collegeboard.org/media/pdf/ap-precalculus-course-and-exam-description.pdf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24:00–27:00（3分钟）</a:t>
            </a:r>
          </a:p>
          <a:p xmlns:a="http://schemas.openxmlformats.org/drawingml/2006/main">
            <a:r>
              <a:t>先写具体g(x)=−2f(x−1)+3，再分输入和输出。旧输入u满足x−1=u，故x=u+1；输出为−2v+3。</a:t>
            </a:r>
          </a:p>
          <a:p xmlns:a="http://schemas.openxmlformats.org/drawingml/2006/main">
            <a:r>
              <a:t>一般规则g(x)=af(b(x−h))+k，其中a,b非零，对应(u/b+h,av+k)。一般式作为整理工具，不要求学生背变换先后口诀。</a:t>
            </a:r>
          </a:p>
          <a:p xmlns:a="http://schemas.openxmlformats.org/drawingml/2006/main">
            <a:r>
              <a:t>英文：“Solve for the new x-coordinate, then calculate the new y-coordinate.”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课程依据：https://apcentral.collegeboard.org/media/pdf/ap-precalculus-course-and-exam-description.pdf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27:00–30:00（3分钟）</a:t>
            </a:r>
          </a:p>
          <a:p xmlns:a="http://schemas.openxmlformats.org/drawingml/2006/main">
            <a:r>
              <a:t>共同完成第一行后请学生补其余行。原点(−3,0),(−1,4),(1,2),(3,3)。映射(x,y)=(u+1,−2v+3)得到(−2,3),(0,−5),(2,−1),(4,−3)。投影片显示答案，展示前先在板书完成两点，或让学生用纸遮住表格右列。</a:t>
            </a:r>
          </a:p>
          <a:p xmlns:a="http://schemas.openxmlformats.org/drawingml/2006/main">
            <a:r>
              <a:t>英文：“The shape between the anchor points follows the same transformation.”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课程依据：https://apcentral.collegeboard.org/media/pdf/ap-precalculus-course-and-exam-description.pdf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30:00–32:00（2分钟）</a:t>
            </a:r>
          </a:p>
          <a:p xmlns:a="http://schemas.openxmlformats.org/drawingml/2006/main">
            <a:r>
              <a:t>原f定义域[−3,3]，值域[0,4]。横坐标+1所以新定义域[−2,4]；输出−2v+3：v=0映到3，v=4映到−5，按从小到大写[−5,3]。</a:t>
            </a:r>
          </a:p>
          <a:p xmlns:a="http://schemas.openxmlformats.org/drawingml/2006/main">
            <a:r>
              <a:t>检查：“Why do the range endpoints change order?”</a:t>
            </a:r>
          </a:p>
          <a:p xmlns:a="http://schemas.openxmlformats.org/drawingml/2006/main">
            <a:r>
              <a:t>强调端点开闭性随一一仿射变换保留，本课例子端点都包含。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课程依据：https://apcentral.collegeboard.org/media/pdf/ap-precalculus-course-and-exam-description.pdf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32:00–35:00（3分钟）</a:t>
            </a:r>
          </a:p>
          <a:p xmlns:a="http://schemas.openxmlformats.org/drawingml/2006/main">
            <a:r>
              <a:t>本页3分钟：A同学写公式，B同学检查点和区间，90秒后互查。给f(2)=3、domain[−2,4]、range[1,5]。要求右移2、竖直乘2、下移1。</a:t>
            </a:r>
          </a:p>
          <a:p xmlns:a="http://schemas.openxmlformats.org/drawingml/2006/main">
            <a:r>
              <a:t>答案g(x)=2f(x−2)−1；原点(2,3)变(4,5)；新定义域[0,6]，值域[1,9]。</a:t>
            </a:r>
          </a:p>
          <a:p xmlns:a="http://schemas.openxmlformats.org/drawingml/2006/main">
            <a:r>
              <a:t>弱学生支架：先填g(x)=__ f(x−__) + __。进阶学生说明为何区间只依赖已给范围。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课程依据：https://apcentral.collegeboard.org/media/pdf/ap-precalculus-course-and-exam-description.pdf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35:00–37:00（2分钟）</a:t>
            </a:r>
          </a:p>
          <a:p xmlns:a="http://schemas.openxmlformats.org/drawingml/2006/main">
            <a:r>
              <a:t>不要只核对数值，邀请学生说明输入匹配方程x−2=2。使用三个短追问：Why x−2? Why y=2×3−1? Which coordinates define the domain?</a:t>
            </a:r>
          </a:p>
          <a:p xmlns:a="http://schemas.openxmlformats.org/drawingml/2006/main">
            <a:r>
              <a:t>按答案收尾。如果有水平符号误解，回到输入匹配，无需重新讲全部规则。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课程依据：https://apcentral.collegeboard.org/media/pdf/ap-precalculus-course-and-exam-description.pdf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37:00–39:00（2分钟）</a:t>
            </a:r>
          </a:p>
          <a:p xmlns:a="http://schemas.openxmlformats.org/drawingml/2006/main">
            <a:r>
              <a:t>独立完成两问，不口头齐答。答案备份页18。</a:t>
            </a:r>
          </a:p>
          <a:p xmlns:a="http://schemas.openxmlformats.org/drawingml/2006/main">
            <a:r>
              <a:t>1. f(4)=3, g(x)=−f(x/2)+1，得到新点(8,−2)。2. 左移3，上移2：h(x)=f(x+3)+2。</a:t>
            </a:r>
          </a:p>
          <a:p xmlns:a="http://schemas.openxmlformats.org/drawingml/2006/main">
            <a:r>
              <a:t>收集纸条作为形成性评价。若时间不足，保留第一问和一句理由，第二问口答。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课程依据：https://apcentral.collegeboard.org/media/pdf/ap-precalculus-course-and-exam-description.pdf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39:00–40:00（1分钟）</a:t>
            </a:r>
          </a:p>
          <a:p xmlns:a="http://schemas.openxmlformats.org/drawingml/2006/main">
            <a:r>
              <a:t>最后一分钟返回开场问题，用一位学生总结输入与输出：Inside affects inputs; outside affects outputs。避免只让学生机械背“相反”。</a:t>
            </a:r>
          </a:p>
          <a:p xmlns:a="http://schemas.openxmlformats.org/drawingml/2006/main">
            <a:r>
              <a:t>英文收束：“Match the old input. Then transform the output.”</a:t>
            </a:r>
          </a:p>
          <a:p xmlns:a="http://schemas.openxmlformats.org/drawingml/2006/main">
            <a:r>
              <a:t>这是一节40分钟核心课。官方1.12建议2–3课时，后续可继续练习更复杂的复合与建模。备份页只在有额外时间或面试官追问时使用。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课程依据：https://apcentral.collegeboard.org/media/pdf/ap-precalculus-course-and-exam-description.pdf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备份页，不计入40分钟</a:t>
            </a:r>
          </a:p>
          <a:p xmlns:a="http://schemas.openxmlformats.org/drawingml/2006/main">
            <a:r>
              <a:t>仅学生进度很快时使用。g(x)=f(2x−6)=f(2(x−3))。旧输入u=2x−6，所以新x=u/2+3。横向缩小到一半再右移3；若先右移6再横向缩小一半也可，避免说所有顺序只有一种。</a:t>
            </a:r>
          </a:p>
          <a:p xmlns:a="http://schemas.openxmlformats.org/drawingml/2006/main">
            <a:r>
              <a:t>原点(4,5)变(5,5)。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课程依据：https://apcentral.collegeboard.org/media/pdf/ap-precalculus-course-and-exam-description.pdf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备份答案，不计入40分钟</a:t>
            </a:r>
          </a:p>
          <a:p xmlns:a="http://schemas.openxmlformats.org/drawingml/2006/main">
            <a:r>
              <a:t>第一问x/2=4得x=8；新输出−3+1=−2。第二问f(x+3)+2。</a:t>
            </a:r>
          </a:p>
          <a:p xmlns:a="http://schemas.openxmlformats.org/drawingml/2006/main">
            <a:r>
              <a:t>若学生只会算输出而漏了横坐标，说明还需水平变换练习。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课程依据：https://apcentral.collegeboard.org/media/pdf/ap-precalculus-course-and-exam-description.pdf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教师备课资源，不计入40分钟</a:t>
            </a:r>
          </a:p>
          <a:p xmlns:a="http://schemas.openxmlformats.org/drawingml/2006/main">
            <a:r>
              <a:t>公开资源已核对。FlippedMath提供1.12A平移及1.12B伸缩的讲义、习题答案、纠错练习和视频。可挑少量题补充；不应把两份完整练习塞进40分钟。</a:t>
            </a:r>
          </a:p>
          <a:p xmlns:a="http://schemas.openxmlformats.org/drawingml/2006/main">
            <a:r>
              <a:t>https://apcentral.collegeboard.org/media/pdf/ap-precalculus-course-and-exam-description.pdf</a:t>
            </a:r>
          </a:p>
          <a:p xmlns:a="http://schemas.openxmlformats.org/drawingml/2006/main">
            <a:r>
              <a:t>https://precalculus.flippedmath.com/112a-translations-of-functions.html</a:t>
            </a:r>
          </a:p>
          <a:p xmlns:a="http://schemas.openxmlformats.org/drawingml/2006/main">
            <a:r>
              <a:t>https://precalculus.flippedmath.com/112b-dilations-of-functions.html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课程依据：https://apcentral.collegeboard.org/media/pdf/ap-precalculus-course-and-exam-description.pdf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1087630c8f4fa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f7f4c58fb743b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154f496ed2470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345ba5c124469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2b4eae720e49d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c1d6378af141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80EE022-1F6B-404A-BEF5-9098C37DDC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0395463-1E31-4D0E-9074-F84633AC42E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F2BD945-69C8-4E77-997B-116F08E9C1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DD567BE-6DD7-4372-8E28-F7DD02507E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B9A257D-FDB2-411D-8DA8-A8842136EF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D72E47D-8525-407D-80D7-636FF0CB02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F82626A-76E5-46E9-B786-B561FC21EF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CD74D3F-FC19-4420-93B8-7FE17C7622C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97809B3-4DED-4185-AE4A-D8E590912F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76500B8-9CBB-41E7-B915-6329651D83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8e2a163f724e81" /><Relationship Type="http://schemas.openxmlformats.org/officeDocument/2006/relationships/slideLayout" Target="/ppt/slideLayouts/slideLayout1.xml" Id="Rb48249ab23b2482a" /><Relationship Type="http://schemas.openxmlformats.org/officeDocument/2006/relationships/slideLayout" Target="/ppt/slideLayouts/slideLayout2.xml" Id="R58aa6a6d0fde492d" /><Relationship Type="http://schemas.openxmlformats.org/officeDocument/2006/relationships/slideLayout" Target="/ppt/slideLayouts/slideLayout3.xml" Id="R0585b287a9134f13" /><Relationship Type="http://schemas.openxmlformats.org/officeDocument/2006/relationships/slideLayout" Target="/ppt/slideLayouts/slideLayout4.xml" Id="R6651a4632f0d40f6" /><Relationship Type="http://schemas.openxmlformats.org/officeDocument/2006/relationships/slideLayout" Target="/ppt/slideLayouts/slideLayout5.xml" Id="R2b95465b4cb043a0" /><Relationship Type="http://schemas.openxmlformats.org/officeDocument/2006/relationships/slideLayout" Target="/ppt/slideLayouts/slideLayout6.xml" Id="R65a829c396ad44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8249ab23b2482a"/>
    <p:sldLayoutId xmlns:r="http://schemas.openxmlformats.org/officeDocument/2006/relationships" id="2147483650" r:id="R58aa6a6d0fde492d"/>
    <p:sldLayoutId xmlns:r="http://schemas.openxmlformats.org/officeDocument/2006/relationships" id="2147483651" r:id="R0585b287a9134f13"/>
    <p:sldLayoutId xmlns:r="http://schemas.openxmlformats.org/officeDocument/2006/relationships" id="2147483652" r:id="R6651a4632f0d40f6"/>
    <p:sldLayoutId xmlns:r="http://schemas.openxmlformats.org/officeDocument/2006/relationships" id="2147483653" r:id="R2b95465b4cb043a0"/>
    <p:sldLayoutId xmlns:r="http://schemas.openxmlformats.org/officeDocument/2006/relationships" id="2147483654" r:id="R65a829c396ad44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783c84448c4c5c" /><Relationship Type="http://schemas.openxmlformats.org/officeDocument/2006/relationships/chart" Target="/ppt/slides/charts/chart1.xml" Id="Rf6219ab89db8434a" /><Relationship Type="http://schemas.openxmlformats.org/officeDocument/2006/relationships/notesSlide" Target="/ppt/notesSlides/notesSlide1.xml" Id="R1335bc1a6a804a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bd082e7b5a4c7d" /><Relationship Type="http://schemas.openxmlformats.org/officeDocument/2006/relationships/chart" Target="/ppt/slides/charts/chart2.xml" Id="R9224d5aa51784340" /><Relationship Type="http://schemas.openxmlformats.org/officeDocument/2006/relationships/notesSlide" Target="/ppt/notesSlides/notesSlide2.xml" Id="R8edd3b858c4c42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017e39af74486d" /><Relationship Type="http://schemas.openxmlformats.org/officeDocument/2006/relationships/chart" Target="/ppt/slides/charts/chart3.xml" Id="R482d2a412263434a" /><Relationship Type="http://schemas.openxmlformats.org/officeDocument/2006/relationships/notesSlide" Target="/ppt/notesSlides/notesSlide3.xml" Id="Raeb098979a1f49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88c9919bc44053" /><Relationship Type="http://schemas.openxmlformats.org/officeDocument/2006/relationships/chart" Target="/ppt/slides/charts/chart4.xml" Id="R7c8a984e21144ac3" /><Relationship Type="http://schemas.openxmlformats.org/officeDocument/2006/relationships/notesSlide" Target="/ppt/notesSlides/notesSlide4.xml" Id="R1e205f81539b4f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d7511153514774" /><Relationship Type="http://schemas.openxmlformats.org/officeDocument/2006/relationships/notesSlide" Target="/ppt/notesSlides/notesSlide5.xml" Id="Rbe4a9b97e89946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475f8464a3479c" /><Relationship Type="http://schemas.openxmlformats.org/officeDocument/2006/relationships/chart" Target="/ppt/slides/charts/chart5.xml" Id="R6edcc5bea200496b" /><Relationship Type="http://schemas.openxmlformats.org/officeDocument/2006/relationships/notesSlide" Target="/ppt/notesSlides/notesSlide6.xml" Id="Rca54373f30ca44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cfabb41b774432" /><Relationship Type="http://schemas.openxmlformats.org/officeDocument/2006/relationships/chart" Target="/ppt/slides/charts/chart6.xml" Id="R05658e9f07824d20" /><Relationship Type="http://schemas.openxmlformats.org/officeDocument/2006/relationships/notesSlide" Target="/ppt/notesSlides/notesSlide7.xml" Id="R8131b787306942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00be763bcb409f" /><Relationship Type="http://schemas.openxmlformats.org/officeDocument/2006/relationships/chart" Target="/ppt/slides/charts/chart7.xml" Id="R7ca94749b7f94553" /><Relationship Type="http://schemas.openxmlformats.org/officeDocument/2006/relationships/notesSlide" Target="/ppt/notesSlides/notesSlide8.xml" Id="Rc57400d2498f477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18b371ef1b465a" /><Relationship Type="http://schemas.openxmlformats.org/officeDocument/2006/relationships/notesSlide" Target="/ppt/notesSlides/notesSlide9.xml" Id="R5d6f4c99223d4f2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67c3c3a3a44731" /><Relationship Type="http://schemas.openxmlformats.org/officeDocument/2006/relationships/notesSlide" Target="/ppt/notesSlides/notesSlide10.xml" Id="R95137856941f48f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43bed3e10b439c" /><Relationship Type="http://schemas.openxmlformats.org/officeDocument/2006/relationships/chart" Target="/ppt/slides/charts/chart8.xml" Id="R6ff48162288c4a23" /><Relationship Type="http://schemas.openxmlformats.org/officeDocument/2006/relationships/notesSlide" Target="/ppt/notesSlides/notesSlide11.xml" Id="R8c3c83941b2f49c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60359be9164948" /><Relationship Type="http://schemas.openxmlformats.org/officeDocument/2006/relationships/notesSlide" Target="/ppt/notesSlides/notesSlide12.xml" Id="Re1cbc4bd2c6d4a2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9cdf6ce6ca48f5" /><Relationship Type="http://schemas.openxmlformats.org/officeDocument/2006/relationships/notesSlide" Target="/ppt/notesSlides/notesSlide13.xml" Id="R8690b74c502f465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06a53b50334f5a" /><Relationship Type="http://schemas.openxmlformats.org/officeDocument/2006/relationships/notesSlide" Target="/ppt/notesSlides/notesSlide14.xml" Id="R3054fc38e999467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6d617c3ab24829" /><Relationship Type="http://schemas.openxmlformats.org/officeDocument/2006/relationships/notesSlide" Target="/ppt/notesSlides/notesSlide15.xml" Id="R88dc1d1468d94fc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cc6b6972114ffb" /><Relationship Type="http://schemas.openxmlformats.org/officeDocument/2006/relationships/notesSlide" Target="/ppt/notesSlides/notesSlide16.xml" Id="R576ed17b47534bd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6f3a3654f44a41" /><Relationship Type="http://schemas.openxmlformats.org/officeDocument/2006/relationships/notesSlide" Target="/ppt/notesSlides/notesSlide17.xml" Id="R246eaee535554ff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75641f6f874c3b" /><Relationship Type="http://schemas.openxmlformats.org/officeDocument/2006/relationships/notesSlide" Target="/ppt/notesSlides/notesSlide18.xml" Id="R0921bea07a1c495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a4dd661bdd4e9f" /><Relationship Type="http://schemas.openxmlformats.org/officeDocument/2006/relationships/notesSlide" Target="/ppt/notesSlides/notesSlide19.xml" Id="R37b8105733d249b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f(x)</c:v>
          </c:tx>
          <c:spPr>
            <a:ln xmlns:a="http://schemas.openxmlformats.org/drawingml/2006/main" w="33338">
              <a:solidFill>
                <a:srgbClr val="126F63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126F63"/>
              </a:solidFill>
            </c:spPr>
          </c:marker>
          <c:xVal>
            <c:numRef>
              <c:f>'Chart Data'!$A$2:$A$5</c:f>
              <c:numCache>
                <c:formatCode>General</c:formatCode>
                <c:ptCount val="4"/>
                <c:pt idx="0">
                  <c:v>-3</c:v>
                </c:pt>
                <c:pt idx="1">
                  <c:v>-1</c:v>
                </c:pt>
                <c:pt idx="2">
                  <c:v>1</c:v>
                </c:pt>
                <c:pt idx="3">
                  <c:v>3</c:v>
                </c:pt>
              </c:numCache>
            </c:numRef>
          </c:xVal>
          <c:yVal>
            <c:numRef>
              <c:f>'Chart Data'!$B$2:$B$5</c:f>
              <c:numCache>
                <c:formatCode>0</c:formatCode>
                <c:ptCount val="4"/>
                <c:pt idx="0">
                  <c:v>0</c:v>
                </c:pt>
                <c:pt idx="1">
                  <c:v>4</c:v>
                </c:pt>
                <c:pt idx="2">
                  <c:v>2</c:v>
                </c:pt>
                <c:pt idx="3">
                  <c:v>3</c:v>
                </c:pt>
              </c:numCache>
            </c:numRef>
          </c:yVal>
        </c:ser>
        <c:ser>
          <c:idx val="1"/>
          <c:order val="1"/>
          <c:tx>
            <c:v>f(x − 2) + 1</c:v>
          </c:tx>
          <c:spPr>
            <a:ln xmlns:a="http://schemas.openxmlformats.org/drawingml/2006/main" w="33338">
              <a:solidFill>
                <a:srgbClr val="D9682F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D9682F"/>
              </a:solidFill>
            </c:spPr>
          </c:marker>
          <c:xVal>
            <c:numRef>
              <c:f>'Chart Data'!$C$2:$C$5</c:f>
              <c:numCache>
                <c:formatCode>General</c:formatCode>
                <c:ptCount val="4"/>
                <c:pt idx="0">
                  <c:v>-1</c:v>
                </c:pt>
                <c:pt idx="1">
                  <c:v>1</c:v>
                </c:pt>
                <c:pt idx="2">
                  <c:v>3</c:v>
                </c:pt>
                <c:pt idx="3">
                  <c:v>5</c:v>
                </c:pt>
              </c:numCache>
            </c:numRef>
          </c:xVal>
          <c:yVal>
            <c:numRef>
              <c:f>'Chart Data'!$D$2:$D$5</c:f>
              <c:numCache>
                <c:formatCode>0</c:formatCode>
                <c:ptCount val="4"/>
                <c:pt idx="0">
                  <c:v>1</c:v>
                </c:pt>
                <c:pt idx="1">
                  <c:v>5</c:v>
                </c:pt>
                <c:pt idx="2">
                  <c:v>3</c:v>
                </c:pt>
                <c:pt idx="3">
                  <c:v>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6"/>
          <c:min val="-1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4E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71858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At val="0"/>
        <c:majorUnit val="2"/>
      </c:valAx>
      <c:valAx>
        <c:axId val="48650112"/>
        <c:scaling>
          <c:orientation val="minMax"/>
          <c:max val="6"/>
          <c:min val="-4"/>
        </c:scaling>
        <c:delete val="0"/>
        <c:axPos val="b"/>
        <c:majorGridlines>
          <c:spPr>
            <a:ln xmlns:a="http://schemas.openxmlformats.org/drawingml/2006/main" w="9525">
              <a:solidFill>
                <a:srgbClr val="DDE4E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x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71858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crossesAt val="0"/>
        <c:majorUnit val="2"/>
      </c:valAx>
      <c:spPr>
        <a:solidFill xmlns:a="http://schemas.openxmlformats.org/drawingml/2006/main">
          <a:srgbClr val="F7F5EF"/>
        </a:solidFill>
        <a:ln xmlns:a="http://schemas.openxmlformats.org/drawingml/2006/main" w="9525">
          <a:solidFill>
            <a:srgbClr val="B8C8CB"/>
          </a:solidFill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42A3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7F5E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f(x)</c:v>
          </c:tx>
          <c:spPr>
            <a:ln xmlns:a="http://schemas.openxmlformats.org/drawingml/2006/main" w="33338">
              <a:solidFill>
                <a:srgbClr val="126F63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126F63"/>
              </a:solidFill>
            </c:spPr>
          </c:marker>
          <c:xVal>
            <c:numRef>
              <c:f>'Chart Data'!$A$2:$A$5</c:f>
              <c:numCache>
                <c:formatCode>General</c:formatCode>
                <c:ptCount val="4"/>
                <c:pt idx="0">
                  <c:v>-3</c:v>
                </c:pt>
                <c:pt idx="1">
                  <c:v>-1</c:v>
                </c:pt>
                <c:pt idx="2">
                  <c:v>1</c:v>
                </c:pt>
                <c:pt idx="3">
                  <c:v>3</c:v>
                </c:pt>
              </c:numCache>
            </c:numRef>
          </c:xVal>
          <c:yVal>
            <c:numRef>
              <c:f>'Chart Data'!$B$2:$B$5</c:f>
              <c:numCache>
                <c:formatCode>0</c:formatCode>
                <c:ptCount val="4"/>
                <c:pt idx="0">
                  <c:v>0</c:v>
                </c:pt>
                <c:pt idx="1">
                  <c:v>4</c:v>
                </c:pt>
                <c:pt idx="2">
                  <c:v>2</c:v>
                </c:pt>
                <c:pt idx="3">
                  <c:v>3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"/>
          <c:min val="-1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4E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71858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At val="0"/>
        <c:majorUnit val="1"/>
      </c:valAx>
      <c:valAx>
        <c:axId val="48650112"/>
        <c:scaling>
          <c:orientation val="minMax"/>
          <c:max val="4"/>
          <c:min val="-4"/>
        </c:scaling>
        <c:delete val="0"/>
        <c:axPos val="b"/>
        <c:majorGridlines>
          <c:spPr>
            <a:ln xmlns:a="http://schemas.openxmlformats.org/drawingml/2006/main" w="9525">
              <a:solidFill>
                <a:srgbClr val="DDE4E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x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71858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crossesAt val="0"/>
        <c:majorUnit val="1"/>
      </c:valAx>
      <c:spPr>
        <a:solidFill xmlns:a="http://schemas.openxmlformats.org/drawingml/2006/main">
          <a:srgbClr val="F7F5EF"/>
        </a:solidFill>
        <a:ln xmlns:a="http://schemas.openxmlformats.org/drawingml/2006/main" w="9525">
          <a:solidFill>
            <a:srgbClr val="B8C8CB"/>
          </a:solidFill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42A3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7F5E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f(x)</c:v>
          </c:tx>
          <c:spPr>
            <a:ln xmlns:a="http://schemas.openxmlformats.org/drawingml/2006/main" w="33338">
              <a:solidFill>
                <a:srgbClr val="126F63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126F63"/>
              </a:solidFill>
            </c:spPr>
          </c:marker>
          <c:xVal>
            <c:numRef>
              <c:f>'Chart Data'!$A$2:$A$5</c:f>
              <c:numCache>
                <c:formatCode>General</c:formatCode>
                <c:ptCount val="4"/>
                <c:pt idx="0">
                  <c:v>-3</c:v>
                </c:pt>
                <c:pt idx="1">
                  <c:v>-1</c:v>
                </c:pt>
                <c:pt idx="2">
                  <c:v>1</c:v>
                </c:pt>
                <c:pt idx="3">
                  <c:v>3</c:v>
                </c:pt>
              </c:numCache>
            </c:numRef>
          </c:xVal>
          <c:yVal>
            <c:numRef>
              <c:f>'Chart Data'!$B$2:$B$5</c:f>
              <c:numCache>
                <c:formatCode>0</c:formatCode>
                <c:ptCount val="4"/>
                <c:pt idx="0">
                  <c:v>0</c:v>
                </c:pt>
                <c:pt idx="1">
                  <c:v>4</c:v>
                </c:pt>
                <c:pt idx="2">
                  <c:v>2</c:v>
                </c:pt>
                <c:pt idx="3">
                  <c:v>3</c:v>
                </c:pt>
              </c:numCache>
            </c:numRef>
          </c:yVal>
        </c:ser>
        <c:ser>
          <c:idx val="1"/>
          <c:order val="1"/>
          <c:tx>
            <c:v>f(x) + 3</c:v>
          </c:tx>
          <c:spPr>
            <a:ln xmlns:a="http://schemas.openxmlformats.org/drawingml/2006/main" w="33338">
              <a:solidFill>
                <a:srgbClr val="D9682F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D9682F"/>
              </a:solidFill>
            </c:spPr>
          </c:marker>
          <c:xVal>
            <c:numRef>
              <c:f>'Chart Data'!$C$2:$C$5</c:f>
              <c:numCache>
                <c:formatCode>General</c:formatCode>
                <c:ptCount val="4"/>
                <c:pt idx="0">
                  <c:v>-3</c:v>
                </c:pt>
                <c:pt idx="1">
                  <c:v>-1</c:v>
                </c:pt>
                <c:pt idx="2">
                  <c:v>1</c:v>
                </c:pt>
                <c:pt idx="3">
                  <c:v>3</c:v>
                </c:pt>
              </c:numCache>
            </c:numRef>
          </c:xVal>
          <c:yVal>
            <c:numRef>
              <c:f>'Chart Data'!$D$2:$D$5</c:f>
              <c:numCache>
                <c:formatCode>0</c:formatCode>
                <c:ptCount val="4"/>
                <c:pt idx="0">
                  <c:v>3</c:v>
                </c:pt>
                <c:pt idx="1">
                  <c:v>7</c:v>
                </c:pt>
                <c:pt idx="2">
                  <c:v>5</c:v>
                </c:pt>
                <c:pt idx="3">
                  <c:v>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8"/>
          <c:min val="-1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4E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71858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At val="0"/>
        <c:majorUnit val="1"/>
      </c:valAx>
      <c:valAx>
        <c:axId val="48650112"/>
        <c:scaling>
          <c:orientation val="minMax"/>
          <c:max val="4"/>
          <c:min val="-4"/>
        </c:scaling>
        <c:delete val="0"/>
        <c:axPos val="b"/>
        <c:majorGridlines>
          <c:spPr>
            <a:ln xmlns:a="http://schemas.openxmlformats.org/drawingml/2006/main" w="9525">
              <a:solidFill>
                <a:srgbClr val="DDE4E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x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71858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crossesAt val="0"/>
        <c:majorUnit val="1"/>
      </c:valAx>
      <c:spPr>
        <a:solidFill xmlns:a="http://schemas.openxmlformats.org/drawingml/2006/main">
          <a:srgbClr val="F7F5EF"/>
        </a:solidFill>
        <a:ln xmlns:a="http://schemas.openxmlformats.org/drawingml/2006/main" w="9525">
          <a:solidFill>
            <a:srgbClr val="B8C8CB"/>
          </a:solidFill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42A3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7F5E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f(x)</c:v>
          </c:tx>
          <c:spPr>
            <a:ln xmlns:a="http://schemas.openxmlformats.org/drawingml/2006/main" w="33338">
              <a:solidFill>
                <a:srgbClr val="126F63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126F63"/>
              </a:solidFill>
            </c:spPr>
          </c:marker>
          <c:xVal>
            <c:numRef>
              <c:f>'Chart Data'!$A$2:$A$5</c:f>
              <c:numCache>
                <c:formatCode>General</c:formatCode>
                <c:ptCount val="4"/>
                <c:pt idx="0">
                  <c:v>-3</c:v>
                </c:pt>
                <c:pt idx="1">
                  <c:v>-1</c:v>
                </c:pt>
                <c:pt idx="2">
                  <c:v>1</c:v>
                </c:pt>
                <c:pt idx="3">
                  <c:v>3</c:v>
                </c:pt>
              </c:numCache>
            </c:numRef>
          </c:xVal>
          <c:yVal>
            <c:numRef>
              <c:f>'Chart Data'!$B$2:$B$5</c:f>
              <c:numCache>
                <c:formatCode>0</c:formatCode>
                <c:ptCount val="4"/>
                <c:pt idx="0">
                  <c:v>0</c:v>
                </c:pt>
                <c:pt idx="1">
                  <c:v>4</c:v>
                </c:pt>
                <c:pt idx="2">
                  <c:v>2</c:v>
                </c:pt>
                <c:pt idx="3">
                  <c:v>3</c:v>
                </c:pt>
              </c:numCache>
            </c:numRef>
          </c:yVal>
        </c:ser>
        <c:ser>
          <c:idx val="1"/>
          <c:order val="1"/>
          <c:tx>
            <c:v>f(x − 2)</c:v>
          </c:tx>
          <c:spPr>
            <a:ln xmlns:a="http://schemas.openxmlformats.org/drawingml/2006/main" w="33338">
              <a:solidFill>
                <a:srgbClr val="D9682F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D9682F"/>
              </a:solidFill>
            </c:spPr>
          </c:marker>
          <c:xVal>
            <c:numRef>
              <c:f>'Chart Data'!$C$2:$C$5</c:f>
              <c:numCache>
                <c:formatCode>General</c:formatCode>
                <c:ptCount val="4"/>
                <c:pt idx="0">
                  <c:v>-1</c:v>
                </c:pt>
                <c:pt idx="1">
                  <c:v>1</c:v>
                </c:pt>
                <c:pt idx="2">
                  <c:v>3</c:v>
                </c:pt>
                <c:pt idx="3">
                  <c:v>5</c:v>
                </c:pt>
              </c:numCache>
            </c:numRef>
          </c:xVal>
          <c:yVal>
            <c:numRef>
              <c:f>'Chart Data'!$D$2:$D$5</c:f>
              <c:numCache>
                <c:formatCode>0</c:formatCode>
                <c:ptCount val="4"/>
                <c:pt idx="0">
                  <c:v>0</c:v>
                </c:pt>
                <c:pt idx="1">
                  <c:v>4</c:v>
                </c:pt>
                <c:pt idx="2">
                  <c:v>2</c:v>
                </c:pt>
                <c:pt idx="3">
                  <c:v>3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"/>
          <c:min val="-1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4E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71858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At val="0"/>
        <c:majorUnit val="1"/>
      </c:valAx>
      <c:valAx>
        <c:axId val="48650112"/>
        <c:scaling>
          <c:orientation val="minMax"/>
          <c:max val="6"/>
          <c:min val="-4"/>
        </c:scaling>
        <c:delete val="0"/>
        <c:axPos val="b"/>
        <c:majorGridlines>
          <c:spPr>
            <a:ln xmlns:a="http://schemas.openxmlformats.org/drawingml/2006/main" w="9525">
              <a:solidFill>
                <a:srgbClr val="DDE4E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x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71858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crossesAt val="0"/>
        <c:majorUnit val="1"/>
      </c:valAx>
      <c:spPr>
        <a:solidFill xmlns:a="http://schemas.openxmlformats.org/drawingml/2006/main">
          <a:srgbClr val="F7F5EF"/>
        </a:solidFill>
        <a:ln xmlns:a="http://schemas.openxmlformats.org/drawingml/2006/main" w="9525">
          <a:solidFill>
            <a:srgbClr val="B8C8CB"/>
          </a:solidFill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42A3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7F5E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f(x)</c:v>
          </c:tx>
          <c:spPr>
            <a:ln xmlns:a="http://schemas.openxmlformats.org/drawingml/2006/main" w="33338">
              <a:solidFill>
                <a:srgbClr val="126F63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126F63"/>
              </a:solidFill>
            </c:spPr>
          </c:marker>
          <c:xVal>
            <c:numRef>
              <c:f>'Chart Data'!$A$2:$A$5</c:f>
              <c:numCache>
                <c:formatCode>General</c:formatCode>
                <c:ptCount val="4"/>
                <c:pt idx="0">
                  <c:v>-3</c:v>
                </c:pt>
                <c:pt idx="1">
                  <c:v>-1</c:v>
                </c:pt>
                <c:pt idx="2">
                  <c:v>1</c:v>
                </c:pt>
                <c:pt idx="3">
                  <c:v>3</c:v>
                </c:pt>
              </c:numCache>
            </c:numRef>
          </c:xVal>
          <c:yVal>
            <c:numRef>
              <c:f>'Chart Data'!$B$2:$B$5</c:f>
              <c:numCache>
                <c:formatCode>0</c:formatCode>
                <c:ptCount val="4"/>
                <c:pt idx="0">
                  <c:v>0</c:v>
                </c:pt>
                <c:pt idx="1">
                  <c:v>4</c:v>
                </c:pt>
                <c:pt idx="2">
                  <c:v>2</c:v>
                </c:pt>
                <c:pt idx="3">
                  <c:v>3</c:v>
                </c:pt>
              </c:numCache>
            </c:numRef>
          </c:yVal>
        </c:ser>
        <c:ser>
          <c:idx val="1"/>
          <c:order val="1"/>
          <c:tx>
            <c:v>−2f(x)</c:v>
          </c:tx>
          <c:spPr>
            <a:ln xmlns:a="http://schemas.openxmlformats.org/drawingml/2006/main" w="33338">
              <a:solidFill>
                <a:srgbClr val="D9682F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D9682F"/>
              </a:solidFill>
            </c:spPr>
          </c:marker>
          <c:xVal>
            <c:numRef>
              <c:f>'Chart Data'!$C$2:$C$5</c:f>
              <c:numCache>
                <c:formatCode>General</c:formatCode>
                <c:ptCount val="4"/>
                <c:pt idx="0">
                  <c:v>-3</c:v>
                </c:pt>
                <c:pt idx="1">
                  <c:v>-1</c:v>
                </c:pt>
                <c:pt idx="2">
                  <c:v>1</c:v>
                </c:pt>
                <c:pt idx="3">
                  <c:v>3</c:v>
                </c:pt>
              </c:numCache>
            </c:numRef>
          </c:xVal>
          <c:yVal>
            <c:numRef>
              <c:f>'Chart Data'!$D$2:$D$5</c:f>
              <c:numCache>
                <c:formatCode>0</c:formatCode>
                <c:ptCount val="4"/>
                <c:pt idx="0">
                  <c:v>0</c:v>
                </c:pt>
                <c:pt idx="1">
                  <c:v>-8</c:v>
                </c:pt>
                <c:pt idx="2">
                  <c:v>-4</c:v>
                </c:pt>
                <c:pt idx="3">
                  <c:v>-6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"/>
          <c:min val="-9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4E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71858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At val="0"/>
        <c:majorUnit val="2"/>
      </c:valAx>
      <c:valAx>
        <c:axId val="48650112"/>
        <c:scaling>
          <c:orientation val="minMax"/>
          <c:max val="4"/>
          <c:min val="-4"/>
        </c:scaling>
        <c:delete val="0"/>
        <c:axPos val="b"/>
        <c:majorGridlines>
          <c:spPr>
            <a:ln xmlns:a="http://schemas.openxmlformats.org/drawingml/2006/main" w="9525">
              <a:solidFill>
                <a:srgbClr val="DDE4E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x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71858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crossesAt val="0"/>
        <c:majorUnit val="2"/>
      </c:valAx>
      <c:spPr>
        <a:solidFill xmlns:a="http://schemas.openxmlformats.org/drawingml/2006/main">
          <a:srgbClr val="F7F5EF"/>
        </a:solidFill>
        <a:ln xmlns:a="http://schemas.openxmlformats.org/drawingml/2006/main" w="9525">
          <a:solidFill>
            <a:srgbClr val="B8C8CB"/>
          </a:solidFill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42A3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7F5E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f(x)</c:v>
          </c:tx>
          <c:spPr>
            <a:ln xmlns:a="http://schemas.openxmlformats.org/drawingml/2006/main" w="33338">
              <a:solidFill>
                <a:srgbClr val="126F63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126F63"/>
              </a:solidFill>
            </c:spPr>
          </c:marker>
          <c:xVal>
            <c:numRef>
              <c:f>'Chart Data'!$A$2:$A$5</c:f>
              <c:numCache>
                <c:formatCode>General</c:formatCode>
                <c:ptCount val="4"/>
                <c:pt idx="0">
                  <c:v>-3</c:v>
                </c:pt>
                <c:pt idx="1">
                  <c:v>-1</c:v>
                </c:pt>
                <c:pt idx="2">
                  <c:v>1</c:v>
                </c:pt>
                <c:pt idx="3">
                  <c:v>3</c:v>
                </c:pt>
              </c:numCache>
            </c:numRef>
          </c:xVal>
          <c:yVal>
            <c:numRef>
              <c:f>'Chart Data'!$B$2:$B$5</c:f>
              <c:numCache>
                <c:formatCode>0</c:formatCode>
                <c:ptCount val="4"/>
                <c:pt idx="0">
                  <c:v>0</c:v>
                </c:pt>
                <c:pt idx="1">
                  <c:v>4</c:v>
                </c:pt>
                <c:pt idx="2">
                  <c:v>2</c:v>
                </c:pt>
                <c:pt idx="3">
                  <c:v>3</c:v>
                </c:pt>
              </c:numCache>
            </c:numRef>
          </c:yVal>
        </c:ser>
        <c:ser>
          <c:idx val="1"/>
          <c:order val="1"/>
          <c:tx>
            <c:v>f(2x)</c:v>
          </c:tx>
          <c:spPr>
            <a:ln xmlns:a="http://schemas.openxmlformats.org/drawingml/2006/main" w="33338">
              <a:solidFill>
                <a:srgbClr val="D9682F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D9682F"/>
              </a:solidFill>
            </c:spPr>
          </c:marker>
          <c:xVal>
            <c:numRef>
              <c:f>'Chart Data'!$C$2:$C$5</c:f>
              <c:numCache>
                <c:formatCode>General</c:formatCode>
                <c:ptCount val="4"/>
                <c:pt idx="0">
                  <c:v>-1.5</c:v>
                </c:pt>
                <c:pt idx="1">
                  <c:v>-0.5</c:v>
                </c:pt>
                <c:pt idx="2">
                  <c:v>0.5</c:v>
                </c:pt>
                <c:pt idx="3">
                  <c:v>1.5</c:v>
                </c:pt>
              </c:numCache>
            </c:numRef>
          </c:xVal>
          <c:yVal>
            <c:numRef>
              <c:f>'Chart Data'!$D$2:$D$5</c:f>
              <c:numCache>
                <c:formatCode>0</c:formatCode>
                <c:ptCount val="4"/>
                <c:pt idx="0">
                  <c:v>0</c:v>
                </c:pt>
                <c:pt idx="1">
                  <c:v>4</c:v>
                </c:pt>
                <c:pt idx="2">
                  <c:v>2</c:v>
                </c:pt>
                <c:pt idx="3">
                  <c:v>3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"/>
          <c:min val="-1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4E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71858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At val="0"/>
        <c:majorUnit val="1"/>
      </c:valAx>
      <c:valAx>
        <c:axId val="48650112"/>
        <c:scaling>
          <c:orientation val="minMax"/>
          <c:max val="4"/>
          <c:min val="-4"/>
        </c:scaling>
        <c:delete val="0"/>
        <c:axPos val="b"/>
        <c:majorGridlines>
          <c:spPr>
            <a:ln xmlns:a="http://schemas.openxmlformats.org/drawingml/2006/main" w="9525">
              <a:solidFill>
                <a:srgbClr val="DDE4E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x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71858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crossesAt val="0"/>
        <c:majorUnit val="1"/>
      </c:valAx>
      <c:spPr>
        <a:solidFill xmlns:a="http://schemas.openxmlformats.org/drawingml/2006/main">
          <a:srgbClr val="F7F5EF"/>
        </a:solidFill>
        <a:ln xmlns:a="http://schemas.openxmlformats.org/drawingml/2006/main" w="9525">
          <a:solidFill>
            <a:srgbClr val="B8C8CB"/>
          </a:solidFill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42A3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7F5E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f(x)</c:v>
          </c:tx>
          <c:spPr>
            <a:ln xmlns:a="http://schemas.openxmlformats.org/drawingml/2006/main" w="33338">
              <a:solidFill>
                <a:srgbClr val="126F63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126F63"/>
              </a:solidFill>
            </c:spPr>
          </c:marker>
          <c:xVal>
            <c:numRef>
              <c:f>'Chart Data'!$A$2:$A$5</c:f>
              <c:numCache>
                <c:formatCode>General</c:formatCode>
                <c:ptCount val="4"/>
                <c:pt idx="0">
                  <c:v>-3</c:v>
                </c:pt>
                <c:pt idx="1">
                  <c:v>-1</c:v>
                </c:pt>
                <c:pt idx="2">
                  <c:v>1</c:v>
                </c:pt>
                <c:pt idx="3">
                  <c:v>3</c:v>
                </c:pt>
              </c:numCache>
            </c:numRef>
          </c:xVal>
          <c:yVal>
            <c:numRef>
              <c:f>'Chart Data'!$B$2:$B$5</c:f>
              <c:numCache>
                <c:formatCode>0</c:formatCode>
                <c:ptCount val="4"/>
                <c:pt idx="0">
                  <c:v>0</c:v>
                </c:pt>
                <c:pt idx="1">
                  <c:v>4</c:v>
                </c:pt>
                <c:pt idx="2">
                  <c:v>2</c:v>
                </c:pt>
                <c:pt idx="3">
                  <c:v>3</c:v>
                </c:pt>
              </c:numCache>
            </c:numRef>
          </c:yVal>
        </c:ser>
        <c:ser>
          <c:idx val="1"/>
          <c:order val="1"/>
          <c:tx>
            <c:v>f(−x)</c:v>
          </c:tx>
          <c:spPr>
            <a:ln xmlns:a="http://schemas.openxmlformats.org/drawingml/2006/main" w="33338">
              <a:solidFill>
                <a:srgbClr val="D9682F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D9682F"/>
              </a:solidFill>
            </c:spPr>
          </c:marker>
          <c:xVal>
            <c:numRef>
              <c:f>'Chart Data'!$C$2:$C$5</c:f>
              <c:numCache>
                <c:formatCode>General</c:formatCode>
                <c:ptCount val="4"/>
                <c:pt idx="0">
                  <c:v>-3</c:v>
                </c:pt>
                <c:pt idx="1">
                  <c:v>-1</c:v>
                </c:pt>
                <c:pt idx="2">
                  <c:v>1</c:v>
                </c:pt>
                <c:pt idx="3">
                  <c:v>3</c:v>
                </c:pt>
              </c:numCache>
            </c:numRef>
          </c:xVal>
          <c:yVal>
            <c:numRef>
              <c:f>'Chart Data'!$D$2:$D$5</c:f>
              <c:numCache>
                <c:formatCode>0</c:formatCode>
                <c:ptCount val="4"/>
                <c:pt idx="0">
                  <c:v>3</c:v>
                </c:pt>
                <c:pt idx="1">
                  <c:v>2</c:v>
                </c:pt>
                <c:pt idx="2">
                  <c:v>4</c:v>
                </c:pt>
                <c:pt idx="3">
                  <c:v>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"/>
          <c:min val="-1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4E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71858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At val="0"/>
        <c:majorUnit val="1"/>
      </c:valAx>
      <c:valAx>
        <c:axId val="48650112"/>
        <c:scaling>
          <c:orientation val="minMax"/>
          <c:max val="4"/>
          <c:min val="-4"/>
        </c:scaling>
        <c:delete val="0"/>
        <c:axPos val="b"/>
        <c:majorGridlines>
          <c:spPr>
            <a:ln xmlns:a="http://schemas.openxmlformats.org/drawingml/2006/main" w="9525">
              <a:solidFill>
                <a:srgbClr val="DDE4E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x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71858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crossesAt val="0"/>
        <c:majorUnit val="1"/>
      </c:valAx>
      <c:spPr>
        <a:solidFill xmlns:a="http://schemas.openxmlformats.org/drawingml/2006/main">
          <a:srgbClr val="F7F5EF"/>
        </a:solidFill>
        <a:ln xmlns:a="http://schemas.openxmlformats.org/drawingml/2006/main" w="9525">
          <a:solidFill>
            <a:srgbClr val="B8C8CB"/>
          </a:solidFill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42A3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7F5E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f(x)</c:v>
          </c:tx>
          <c:spPr>
            <a:ln xmlns:a="http://schemas.openxmlformats.org/drawingml/2006/main" w="33338">
              <a:solidFill>
                <a:srgbClr val="126F63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126F63"/>
              </a:solidFill>
            </c:spPr>
          </c:marker>
          <c:xVal>
            <c:numRef>
              <c:f>'Chart Data'!$A$2:$A$5</c:f>
              <c:numCache>
                <c:formatCode>General</c:formatCode>
                <c:ptCount val="4"/>
                <c:pt idx="0">
                  <c:v>-3</c:v>
                </c:pt>
                <c:pt idx="1">
                  <c:v>-1</c:v>
                </c:pt>
                <c:pt idx="2">
                  <c:v>1</c:v>
                </c:pt>
                <c:pt idx="3">
                  <c:v>3</c:v>
                </c:pt>
              </c:numCache>
            </c:numRef>
          </c:xVal>
          <c:yVal>
            <c:numRef>
              <c:f>'Chart Data'!$B$2:$B$5</c:f>
              <c:numCache>
                <c:formatCode>0</c:formatCode>
                <c:ptCount val="4"/>
                <c:pt idx="0">
                  <c:v>0</c:v>
                </c:pt>
                <c:pt idx="1">
                  <c:v>4</c:v>
                </c:pt>
                <c:pt idx="2">
                  <c:v>2</c:v>
                </c:pt>
                <c:pt idx="3">
                  <c:v>3</c:v>
                </c:pt>
              </c:numCache>
            </c:numRef>
          </c:yVal>
        </c:ser>
        <c:ser>
          <c:idx val="1"/>
          <c:order val="1"/>
          <c:tx>
            <c:v>g(x)</c:v>
          </c:tx>
          <c:spPr>
            <a:ln xmlns:a="http://schemas.openxmlformats.org/drawingml/2006/main" w="33338">
              <a:solidFill>
                <a:srgbClr val="D9682F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D9682F"/>
              </a:solidFill>
            </c:spPr>
          </c:marker>
          <c:xVal>
            <c:numRef>
              <c:f>'Chart Data'!$C$2:$C$5</c:f>
              <c:numCache>
                <c:formatCode>General</c:formatCode>
                <c:ptCount val="4"/>
                <c:pt idx="0">
                  <c:v>-2</c:v>
                </c:pt>
                <c:pt idx="1">
                  <c:v>0</c:v>
                </c:pt>
                <c:pt idx="2">
                  <c:v>2</c:v>
                </c:pt>
                <c:pt idx="3">
                  <c:v>4</c:v>
                </c:pt>
              </c:numCache>
            </c:numRef>
          </c:xVal>
          <c:yVal>
            <c:numRef>
              <c:f>'Chart Data'!$D$2:$D$5</c:f>
              <c:numCache>
                <c:formatCode>0</c:formatCode>
                <c:ptCount val="4"/>
                <c:pt idx="0">
                  <c:v>3</c:v>
                </c:pt>
                <c:pt idx="1">
                  <c:v>-5</c:v>
                </c:pt>
                <c:pt idx="2">
                  <c:v>-1</c:v>
                </c:pt>
                <c:pt idx="3">
                  <c:v>-3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"/>
          <c:min val="-6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4E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71858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esAt val="0"/>
        <c:majorUnit val="1"/>
      </c:valAx>
      <c:valAx>
        <c:axId val="48650112"/>
        <c:scaling>
          <c:orientation val="minMax"/>
          <c:max val="5"/>
          <c:min val="-4"/>
        </c:scaling>
        <c:delete val="0"/>
        <c:axPos val="b"/>
        <c:majorGridlines>
          <c:spPr>
            <a:ln xmlns:a="http://schemas.openxmlformats.org/drawingml/2006/main" w="9525">
              <a:solidFill>
                <a:srgbClr val="DDE4E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x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71858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crossesAt val="0"/>
        <c:majorUnit val="1"/>
      </c:valAx>
      <c:spPr>
        <a:solidFill xmlns:a="http://schemas.openxmlformats.org/drawingml/2006/main">
          <a:srgbClr val="F7F5EF"/>
        </a:solidFill>
        <a:ln xmlns:a="http://schemas.openxmlformats.org/drawingml/2006/main" w="9525">
          <a:solidFill>
            <a:srgbClr val="B8C8CB"/>
          </a:solidFill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42A3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7F5E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FCD83DB7-08E7-4912-ACDC-06D27426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46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10459BD-5618-4636-AD22-68AB4F1E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6F63"/>
                </a:solidFill>
                <a:latin typeface="Arial"/>
                <a:ea typeface="Arial"/>
                <a:cs typeface="Arial"/>
              </a:rPr>
              <a:t>AP PRECALCULUS  1.12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72BF2E6-63A4-4E8E-815F-74B506C4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95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defPPr>
            <a:lvl1pPr>
              <a:defRPr sz="495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1pPr>
            <a:lvl2pPr>
              <a:defRPr sz="495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2pPr>
            <a:lvl3pPr>
              <a:defRPr sz="495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3pPr>
            <a:lvl4pPr>
              <a:defRPr sz="495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4pPr>
            <a:lvl5pPr>
              <a:defRPr sz="495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5pPr>
            <a:lvl6pPr>
              <a:defRPr sz="495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6pPr>
            <a:lvl7pPr>
              <a:defRPr sz="495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7pPr>
            <a:lvl8pPr>
              <a:defRPr sz="495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8pPr>
            <a:lvl9pPr>
              <a:defRPr sz="495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42A32"/>
                </a:solidFill>
                <a:latin typeface="Arial"/>
                <a:ea typeface="Arial"/>
                <a:cs typeface="Arial"/>
              </a:rPr>
              <a:t>Transformations</a:t>
            </a:r>
          </a:p>
          <a:p xmlns:a="http://schemas.openxmlformats.org/drawingml/2006/main">
            <a:pPr>
              <a:defRPr sz="495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42A32"/>
                </a:solidFill>
                <a:latin typeface="Arial"/>
                <a:ea typeface="Arial"/>
                <a:cs typeface="Arial"/>
              </a:rPr>
              <a:t>of functions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B38FEE3-3500-4804-865E-2F264DBE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6646A"/>
                </a:solidFill>
                <a:latin typeface="Arial"/>
                <a:ea typeface="Arial"/>
                <a:cs typeface="Arial"/>
              </a:rPr>
              <a:t>Where does each point go?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8C911098-B73B-41EC-9687-505502603C60}"/>
              </a:ext>
            </a:extLst>
          </p:cNvPr>
          <p:cNvGraphicFramePr/>
          <p:nvPr/>
        </p:nvGraphicFramePr>
        <p:xfrm>
          <a:off xmlns:a="http://schemas.openxmlformats.org/drawingml/2006/main" x="6905625" y="1762125"/>
          <a:ext xmlns:a="http://schemas.openxmlformats.org/drawingml/2006/main" cx="4572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6219ab89db8434a"/>
          </a:graphicData>
        </a:graphic>
      </p:graphicFrame>
    </p:spTree>
    <p:extLst>
      <p:ext uri="{BB962C8B-B14F-4D97-AF65-F5344CB8AC3E}">
        <p14:creationId xmlns:p14="http://schemas.microsoft.com/office/powerpoint/2010/main" val="2630702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E84E1D2C-D06B-4B23-A734-8FC7918B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A32"/>
                </a:solidFill>
                <a:latin typeface="Arial"/>
                <a:ea typeface="Arial"/>
                <a:cs typeface="Arial"/>
              </a:rPr>
              <a:t>One point, two changes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A9BC68D-F102-4C8F-8EA6-8288C303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4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D6C6F53-C2DA-4E16-983E-07A4C2ED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A32"/>
                </a:solidFill>
                <a:latin typeface="Arial"/>
                <a:ea typeface="Arial"/>
                <a:cs typeface="Arial"/>
              </a:rPr>
              <a:t>The graph contains (1, 2).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93E8AFD-F592-449D-80A8-9626C980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26F63"/>
                </a:solidFill>
                <a:latin typeface="Arial"/>
                <a:ea typeface="Arial"/>
                <a:cs typeface="Arial"/>
              </a:rPr>
              <a:t>g(x) = f(x) + 3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C03D784-A31C-4FC7-BC24-83EB19A1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D9682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D9682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D9682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D9682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D9682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D9682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D9682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D9682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D9682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D96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D9682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D9682F"/>
                </a:solidFill>
                <a:latin typeface="Arial"/>
                <a:ea typeface="Arial"/>
                <a:cs typeface="Arial"/>
              </a:rPr>
              <a:t>h(x) = f(x − 3)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A2CBD7D-471E-430F-82C3-266B3C51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5095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A32"/>
                </a:solidFill>
                <a:latin typeface="Arial"/>
                <a:ea typeface="Arial"/>
                <a:cs typeface="Arial"/>
              </a:rPr>
              <a:t>Predict the new point for each.</a:t>
            </a:r>
          </a:p>
          <a:p xmlns:a="http://schemas.openxmlformats.org/drawingml/2006/main">
            <a:pPr>
              <a:defRPr sz="21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A32"/>
                </a:solidFill>
                <a:latin typeface="Arial"/>
                <a:ea typeface="Arial"/>
                <a:cs typeface="Arial"/>
              </a:rPr>
              <a:t>Explain your choice to a partner.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67969221-1AD2-4DBA-A5D1-DD4942446AC0}"/>
              </a:ext>
            </a:extLst>
          </p:cNvPr>
          <p:cNvGraphicFramePr/>
          <p:nvPr/>
        </p:nvGraphicFramePr>
        <p:xfrm>
          <a:off xmlns:a="http://schemas.openxmlformats.org/drawingml/2006/main" x="5762625" y="14287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224d5aa51784340"/>
          </a:graphicData>
        </a:graphic>
      </p:graphicFrame>
    </p:spTree>
    <p:extLst>
      <p:ext uri="{BB962C8B-B14F-4D97-AF65-F5344CB8AC3E}">
        <p14:creationId xmlns:p14="http://schemas.microsoft.com/office/powerpoint/2010/main" val="8382642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B097DCD9-88F1-43F8-A46D-A476832E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A32"/>
                </a:solidFill>
                <a:latin typeface="Arial"/>
                <a:ea typeface="Arial"/>
                <a:cs typeface="Arial"/>
              </a:rPr>
              <a:t>Vertical translation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30D3443-C53F-4370-B924-C41145EA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4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97BB7FF-CA08-4D32-954E-2B3136BF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5143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6F63"/>
                </a:solidFill>
                <a:latin typeface="Arial"/>
                <a:ea typeface="Arial"/>
                <a:cs typeface="Arial"/>
              </a:rPr>
              <a:t>g(x) = f(x) + 3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A444C76-0AE9-40EF-A09C-6E92B86B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5048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42A32"/>
                </a:solidFill>
                <a:latin typeface="Arial"/>
                <a:ea typeface="Arial"/>
                <a:cs typeface="Arial"/>
              </a:rPr>
              <a:t>Original point  (u, v)</a:t>
            </a:r>
          </a:p>
          <a:p xmlns:a="http://schemas.openxmlformats.org/drawingml/2006/main">
            <a:pPr>
              <a:defRPr sz="24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42A32"/>
                </a:solidFill>
                <a:latin typeface="Arial"/>
                <a:ea typeface="Arial"/>
                <a:cs typeface="Arial"/>
              </a:rPr>
              <a:t>New point       (u, v + 3)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DF55CC4-59DE-489D-B479-AAC999A2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A32"/>
                </a:solidFill>
                <a:latin typeface="Arial"/>
                <a:ea typeface="Arial"/>
                <a:cs typeface="Arial"/>
              </a:rPr>
              <a:t>Same input.</a:t>
            </a:r>
          </a:p>
          <a:p xmlns:a="http://schemas.openxmlformats.org/drawingml/2006/main">
            <a: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A32"/>
                </a:solidFill>
                <a:latin typeface="Arial"/>
                <a:ea typeface="Arial"/>
                <a:cs typeface="Arial"/>
              </a:rPr>
              <a:t>Add 3 to the output.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8C01DA8C-00FE-4E17-84C4-EDF3745A71AE}"/>
              </a:ext>
            </a:extLst>
          </p:cNvPr>
          <p:cNvGraphicFramePr/>
          <p:nvPr/>
        </p:nvGraphicFramePr>
        <p:xfrm>
          <a:off xmlns:a="http://schemas.openxmlformats.org/drawingml/2006/main" x="5762625" y="14287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82d2a412263434a"/>
          </a:graphicData>
        </a:graphic>
      </p:graphicFrame>
    </p:spTree>
    <p:extLst>
      <p:ext uri="{BB962C8B-B14F-4D97-AF65-F5344CB8AC3E}">
        <p14:creationId xmlns:p14="http://schemas.microsoft.com/office/powerpoint/2010/main" val="6476867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EBC0E0DD-1161-49A0-A3FB-072B8EA2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A32"/>
                </a:solidFill>
                <a:latin typeface="Arial"/>
                <a:ea typeface="Arial"/>
                <a:cs typeface="Arial"/>
              </a:rPr>
              <a:t>Why a minus sign moves the graph right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A1ED65D-9FDE-4427-A37D-211AB815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46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1CCF977-EC0C-4277-8843-21C72D02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D9682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D9682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D9682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D9682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D9682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D9682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D9682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D9682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D9682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D96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D9682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9682F"/>
                </a:solidFill>
                <a:latin typeface="Arial"/>
                <a:ea typeface="Arial"/>
                <a:cs typeface="Arial"/>
              </a:rPr>
              <a:t>g(x) = f(x − 2)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3C5F718-BF6E-4996-8690-E035BEA3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A32"/>
                </a:solidFill>
                <a:latin typeface="Arial"/>
                <a:ea typeface="Arial"/>
                <a:cs typeface="Arial"/>
              </a:rPr>
              <a:t>Keep the old input equal to 1: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D16D824-C62C-43E7-A3ED-7D602DBD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476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A32"/>
                </a:solidFill>
                <a:latin typeface="Arial"/>
                <a:ea typeface="Arial"/>
                <a:cs typeface="Arial"/>
              </a:rPr>
              <a:t>x − 2 = 1</a:t>
            </a:r>
          </a:p>
          <a:p xmlns:a="http://schemas.openxmlformats.org/drawingml/2006/main">
            <a:pPr>
              <a:defRPr sz="285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A32"/>
                </a:solidFill>
                <a:latin typeface="Arial"/>
                <a:ea typeface="Arial"/>
                <a:cs typeface="Arial"/>
              </a:rPr>
              <a:t>x = 3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236F43E-E593-46C5-9A7A-CF42AA32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A32"/>
                </a:solidFill>
                <a:latin typeface="Arial"/>
                <a:ea typeface="Arial"/>
                <a:cs typeface="Arial"/>
              </a:rPr>
              <a:t>(1, 2) becomes (3, 2).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460AE53E-AF1B-4A91-9AB1-F0EF2CB2B123}"/>
              </a:ext>
            </a:extLst>
          </p:cNvPr>
          <p:cNvGraphicFramePr/>
          <p:nvPr/>
        </p:nvGraphicFramePr>
        <p:xfrm>
          <a:off xmlns:a="http://schemas.openxmlformats.org/drawingml/2006/main" x="5762625" y="14287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c8a984e21144ac3"/>
          </a:graphicData>
        </a:graphic>
      </p:graphicFrame>
    </p:spTree>
    <p:extLst>
      <p:ext uri="{BB962C8B-B14F-4D97-AF65-F5344CB8AC3E}">
        <p14:creationId xmlns:p14="http://schemas.microsoft.com/office/powerpoint/2010/main" val="6641890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D0956F12-0BDF-4DAE-8BF5-CC098147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A32"/>
                </a:solidFill>
                <a:latin typeface="Arial"/>
                <a:ea typeface="Arial"/>
                <a:cs typeface="Arial"/>
              </a:rPr>
              <a:t>Checkpoint: input or output?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5965EE9-F840-449B-8725-680F2485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46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731EAB2-AA12-42A2-8B8C-067AC4D5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42A32"/>
                </a:solidFill>
                <a:latin typeface="Arial"/>
                <a:ea typeface="Arial"/>
                <a:cs typeface="Arial"/>
              </a:rPr>
              <a:t>Given f(2) = 5, find the matching point.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419512-9EB3-4A55-9583-3A7C79EE1143}"/>
              </a:ext>
            </a:extLst>
          </p:cNvPr>
          <p:cNvGraphicFramePr/>
          <p:nvPr/>
        </p:nvGraphicFramePr>
        <p:xfrm>
          <a:off xmlns:a="http://schemas.openxmlformats.org/drawingml/2006/main" x="1047750" y="2428875"/>
          <a:ext xmlns:a="http://schemas.openxmlformats.org/drawingml/2006/main" cx="100965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3905250"/>
              </a:tblGrid>
              <a:tr h="642938"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New function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2D2"/>
                      </a:solidFill>
                      <a:prstDash val="solid"/>
                    </a:lnL>
                    <a:lnR w="9525">
                      <a:solidFill>
                        <a:srgbClr val="C9D2D2"/>
                      </a:solidFill>
                      <a:prstDash val="solid"/>
                    </a:lnR>
                    <a:lnT w="9525">
                      <a:solidFill>
                        <a:srgbClr val="C9D2D2"/>
                      </a:solidFill>
                      <a:prstDash val="solid"/>
                    </a:lnT>
                    <a:lnB w="9525">
                      <a:solidFill>
                        <a:srgbClr val="C9D2D2"/>
                      </a:solidFill>
                      <a:prstDash val="solid"/>
                    </a:lnB>
                    <a:solidFill>
                      <a:srgbClr val="142A32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New point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2D2"/>
                      </a:solidFill>
                      <a:prstDash val="solid"/>
                    </a:lnR>
                    <a:lnT w="9525">
                      <a:solidFill>
                        <a:srgbClr val="C9D2D2"/>
                      </a:solidFill>
                      <a:prstDash val="solid"/>
                    </a:lnT>
                    <a:lnB w="9525">
                      <a:solidFill>
                        <a:srgbClr val="C9D2D2"/>
                      </a:solidFill>
                      <a:prstDash val="solid"/>
                    </a:lnB>
                    <a:solidFill>
                      <a:srgbClr val="142A32"/>
                    </a:solidFill>
                  </a:tcPr>
                </a:tc>
              </a:tr>
              <a:tr h="642938"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950" b="0">
                          <a:solidFill>
                            <a:srgbClr val="142A32"/>
                          </a:solidFill>
                          <a:latin typeface="Arial"/>
                          <a:ea typeface="Arial"/>
                          <a:cs typeface="Arial"/>
                        </a:rPr>
                        <a:t>A.  f(x) − 4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2D2"/>
                      </a:solidFill>
                      <a:prstDash val="solid"/>
                    </a:lnL>
                    <a:lnR w="9525">
                      <a:solidFill>
                        <a:srgbClr val="C9D2D2"/>
                      </a:solidFill>
                      <a:prstDash val="solid"/>
                    </a:lnR>
                    <a:lnB w="9525">
                      <a:solidFill>
                        <a:srgbClr val="C9D2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950" b="0">
                          <a:solidFill>
                            <a:srgbClr val="142A32"/>
                          </a:solidFill>
                          <a:latin typeface="Arial"/>
                          <a:ea typeface="Arial"/>
                          <a:cs typeface="Arial"/>
                        </a:rPr>
                        <a:t>( ___ , ___ 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2D2"/>
                      </a:solidFill>
                      <a:prstDash val="solid"/>
                    </a:lnR>
                    <a:lnB w="9525">
                      <a:solidFill>
                        <a:srgbClr val="C9D2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950" b="0">
                          <a:solidFill>
                            <a:srgbClr val="142A32"/>
                          </a:solidFill>
                          <a:latin typeface="Arial"/>
                          <a:ea typeface="Arial"/>
                          <a:cs typeface="Arial"/>
                        </a:rPr>
                        <a:t>B.  f(x + 4)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2D2"/>
                      </a:solidFill>
                      <a:prstDash val="solid"/>
                    </a:lnL>
                    <a:lnR w="9525">
                      <a:solidFill>
                        <a:srgbClr val="C9D2D2"/>
                      </a:solidFill>
                      <a:prstDash val="solid"/>
                    </a:lnR>
                    <a:lnB w="9525">
                      <a:solidFill>
                        <a:srgbClr val="C9D2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950" b="0">
                          <a:solidFill>
                            <a:srgbClr val="142A32"/>
                          </a:solidFill>
                          <a:latin typeface="Arial"/>
                          <a:ea typeface="Arial"/>
                          <a:cs typeface="Arial"/>
                        </a:rPr>
                        <a:t>( ___ , ___ 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2D2"/>
                      </a:solidFill>
                      <a:prstDash val="solid"/>
                    </a:lnR>
                    <a:lnB w="9525">
                      <a:solidFill>
                        <a:srgbClr val="C9D2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  <a:tr h="642938"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950" b="0">
                          <a:solidFill>
                            <a:srgbClr val="142A32"/>
                          </a:solidFill>
                          <a:latin typeface="Arial"/>
                          <a:ea typeface="Arial"/>
                          <a:cs typeface="Arial"/>
                        </a:rPr>
                        <a:t>C.  f(x − 4)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2D2"/>
                      </a:solidFill>
                      <a:prstDash val="solid"/>
                    </a:lnL>
                    <a:lnR w="9525">
                      <a:solidFill>
                        <a:srgbClr val="C9D2D2"/>
                      </a:solidFill>
                      <a:prstDash val="solid"/>
                    </a:lnR>
                    <a:lnB w="9525">
                      <a:solidFill>
                        <a:srgbClr val="C9D2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950" b="0">
                          <a:solidFill>
                            <a:srgbClr val="142A32"/>
                          </a:solidFill>
                          <a:latin typeface="Arial"/>
                          <a:ea typeface="Arial"/>
                          <a:cs typeface="Arial"/>
                        </a:rPr>
                        <a:t>( ___ , ___ 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2D2"/>
                      </a:solidFill>
                      <a:prstDash val="solid"/>
                    </a:lnR>
                    <a:lnB w="9525">
                      <a:solidFill>
                        <a:srgbClr val="C9D2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5A2F4421-F9D5-46E6-8D6C-54EAF851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6F63"/>
                </a:solidFill>
                <a:latin typeface="Arial"/>
                <a:ea typeface="Arial"/>
                <a:cs typeface="Arial"/>
              </a:rPr>
              <a:t>Be ready to justify B using an equation.</a:t>
            </a:r>
          </a:p>
        </p:txBody>
      </p:sp>
    </p:spTree>
    <p:extLst>
      <p:ext uri="{BB962C8B-B14F-4D97-AF65-F5344CB8AC3E}">
        <p14:creationId xmlns:p14="http://schemas.microsoft.com/office/powerpoint/2010/main" val="11028143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48ED344F-B7C8-48D9-A0F8-8CD69B80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A32"/>
                </a:solidFill>
                <a:latin typeface="Arial"/>
                <a:ea typeface="Arial"/>
                <a:cs typeface="Arial"/>
              </a:rPr>
              <a:t>Vertical scale and reflection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4345338-0849-4287-90CF-1F54F012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46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41B3928-B397-4001-A793-178E8D36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5143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6F63"/>
                </a:solidFill>
                <a:latin typeface="Arial"/>
                <a:ea typeface="Arial"/>
                <a:cs typeface="Arial"/>
              </a:rPr>
              <a:t>g(x) = a f(x)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3EACB0D-0147-42B1-B752-B896DFC9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42A32"/>
                </a:solidFill>
                <a:latin typeface="Arial"/>
                <a:ea typeface="Arial"/>
                <a:cs typeface="Arial"/>
              </a:rPr>
              <a:t>(u, v) becomes (u, av)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213940-0D0F-483F-AC71-2F34F07A4FF8}"/>
              </a:ext>
            </a:extLst>
          </p:cNvPr>
          <p:cNvGraphicFramePr/>
          <p:nvPr/>
        </p:nvGraphicFramePr>
        <p:xfrm>
          <a:off xmlns:a="http://schemas.openxmlformats.org/drawingml/2006/main" x="609600" y="3476625"/>
          <a:ext xmlns:a="http://schemas.openxmlformats.org/drawingml/2006/main" cx="485775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3524250"/>
              </a:tblGrid>
              <a:tr h="547688"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2D2"/>
                      </a:solidFill>
                      <a:prstDash val="solid"/>
                    </a:lnL>
                    <a:lnR w="9525">
                      <a:solidFill>
                        <a:srgbClr val="C9D2D2"/>
                      </a:solidFill>
                      <a:prstDash val="solid"/>
                    </a:lnR>
                    <a:lnT w="9525">
                      <a:solidFill>
                        <a:srgbClr val="C9D2D2"/>
                      </a:solidFill>
                      <a:prstDash val="solid"/>
                    </a:lnT>
                    <a:lnB w="9525">
                      <a:solidFill>
                        <a:srgbClr val="C9D2D2"/>
                      </a:solidFill>
                      <a:prstDash val="solid"/>
                    </a:lnB>
                    <a:solidFill>
                      <a:srgbClr val="142A32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New output if v = 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2D2"/>
                      </a:solidFill>
                      <a:prstDash val="solid"/>
                    </a:lnR>
                    <a:lnT w="9525">
                      <a:solidFill>
                        <a:srgbClr val="C9D2D2"/>
                      </a:solidFill>
                      <a:prstDash val="solid"/>
                    </a:lnT>
                    <a:lnB w="9525">
                      <a:solidFill>
                        <a:srgbClr val="C9D2D2"/>
                      </a:solidFill>
                      <a:prstDash val="solid"/>
                    </a:lnB>
                    <a:solidFill>
                      <a:srgbClr val="142A32"/>
                    </a:solidFill>
                  </a:tcPr>
                </a:tc>
              </a:tr>
              <a:tr h="547688"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950" b="0">
                          <a:solidFill>
                            <a:srgbClr val="142A32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2D2"/>
                      </a:solidFill>
                      <a:prstDash val="solid"/>
                    </a:lnL>
                    <a:lnR w="9525">
                      <a:solidFill>
                        <a:srgbClr val="C9D2D2"/>
                      </a:solidFill>
                      <a:prstDash val="solid"/>
                    </a:lnR>
                    <a:lnB w="9525">
                      <a:solidFill>
                        <a:srgbClr val="C9D2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950" b="0">
                          <a:solidFill>
                            <a:srgbClr val="142A32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2D2"/>
                      </a:solidFill>
                      <a:prstDash val="solid"/>
                    </a:lnR>
                    <a:lnB w="9525">
                      <a:solidFill>
                        <a:srgbClr val="C9D2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950" b="0">
                          <a:solidFill>
                            <a:srgbClr val="142A32"/>
                          </a:solidFill>
                          <a:latin typeface="Arial"/>
                          <a:ea typeface="Arial"/>
                          <a:cs typeface="Arial"/>
                        </a:rPr>
                        <a:t>1/2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2D2"/>
                      </a:solidFill>
                      <a:prstDash val="solid"/>
                    </a:lnL>
                    <a:lnR w="9525">
                      <a:solidFill>
                        <a:srgbClr val="C9D2D2"/>
                      </a:solidFill>
                      <a:prstDash val="solid"/>
                    </a:lnR>
                    <a:lnB w="9525">
                      <a:solidFill>
                        <a:srgbClr val="C9D2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950" b="0">
                          <a:solidFill>
                            <a:srgbClr val="142A32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2D2"/>
                      </a:solidFill>
                      <a:prstDash val="solid"/>
                    </a:lnR>
                    <a:lnB w="9525">
                      <a:solidFill>
                        <a:srgbClr val="C9D2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  <a:tr h="547688"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950" b="0">
                          <a:solidFill>
                            <a:srgbClr val="142A32"/>
                          </a:solidFill>
                          <a:latin typeface="Arial"/>
                          <a:ea typeface="Arial"/>
                          <a:cs typeface="Arial"/>
                        </a:rPr>
                        <a:t>−2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2D2"/>
                      </a:solidFill>
                      <a:prstDash val="solid"/>
                    </a:lnL>
                    <a:lnR w="9525">
                      <a:solidFill>
                        <a:srgbClr val="C9D2D2"/>
                      </a:solidFill>
                      <a:prstDash val="solid"/>
                    </a:lnR>
                    <a:lnB w="9525">
                      <a:solidFill>
                        <a:srgbClr val="C9D2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950" b="0">
                          <a:solidFill>
                            <a:srgbClr val="142A32"/>
                          </a:solidFill>
                          <a:latin typeface="Arial"/>
                          <a:ea typeface="Arial"/>
                          <a:cs typeface="Arial"/>
                        </a:rPr>
                        <a:t>−4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2D2"/>
                      </a:solidFill>
                      <a:prstDash val="solid"/>
                    </a:lnR>
                    <a:lnB w="9525">
                      <a:solidFill>
                        <a:srgbClr val="C9D2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0D92690D-12CB-4DFF-B21D-B04CD64F94DC}"/>
              </a:ext>
            </a:extLst>
          </p:cNvPr>
          <p:cNvGraphicFramePr/>
          <p:nvPr/>
        </p:nvGraphicFramePr>
        <p:xfrm>
          <a:off xmlns:a="http://schemas.openxmlformats.org/drawingml/2006/main" x="5762625" y="14287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edcc5bea200496b"/>
          </a:graphicData>
        </a:graphic>
      </p:graphicFrame>
    </p:spTree>
    <p:extLst>
      <p:ext uri="{BB962C8B-B14F-4D97-AF65-F5344CB8AC3E}">
        <p14:creationId xmlns:p14="http://schemas.microsoft.com/office/powerpoint/2010/main" val="10121665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99D0F1BD-1065-49B2-97C5-A916BFA7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A32"/>
                </a:solidFill>
                <a:latin typeface="Arial"/>
                <a:ea typeface="Arial"/>
                <a:cs typeface="Arial"/>
              </a:rPr>
              <a:t>Horizontal scale uses the reciprocal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405BD85-13C9-45EE-BD9F-440792DF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46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194B0BB-EA53-402C-8875-C6AB2DE0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D9682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D9682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D9682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D9682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D9682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D9682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D9682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D9682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D9682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D96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D9682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9682F"/>
                </a:solidFill>
                <a:latin typeface="Arial"/>
                <a:ea typeface="Arial"/>
                <a:cs typeface="Arial"/>
              </a:rPr>
              <a:t>g(x) = f(2x)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FD0C0D0-B977-4685-97C9-9C0A1603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42A32"/>
                </a:solidFill>
                <a:latin typeface="Arial"/>
                <a:ea typeface="Arial"/>
                <a:cs typeface="Arial"/>
              </a:rPr>
              <a:t>Match the old input:</a:t>
            </a:r>
          </a:p>
          <a:p xmlns:a="http://schemas.openxmlformats.org/drawingml/2006/main">
            <a:pPr>
              <a:defRPr sz="24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42A32"/>
                </a:solidFill>
                <a:latin typeface="Arial"/>
                <a:ea typeface="Arial"/>
                <a:cs typeface="Arial"/>
              </a:rPr>
              <a:t>2x = u, so x = u/2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D6F119B-D5F0-42F3-9835-4F1AF846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095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6F63"/>
                </a:solidFill>
                <a:latin typeface="Arial"/>
                <a:ea typeface="Arial"/>
                <a:cs typeface="Arial"/>
              </a:rPr>
              <a:t>Horizontal scale factor: 1/2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AA94763-EB4F-44DD-BF98-C895DB86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5095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A32"/>
                </a:solidFill>
                <a:latin typeface="Arial"/>
                <a:ea typeface="Arial"/>
                <a:cs typeface="Arial"/>
              </a:rPr>
              <a:t>What changes for f(x/2)?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4DF8DAEB-5BF8-4993-80A9-EC7546FC49E2}"/>
              </a:ext>
            </a:extLst>
          </p:cNvPr>
          <p:cNvGraphicFramePr/>
          <p:nvPr/>
        </p:nvGraphicFramePr>
        <p:xfrm>
          <a:off xmlns:a="http://schemas.openxmlformats.org/drawingml/2006/main" x="5762625" y="14287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5658e9f07824d20"/>
          </a:graphicData>
        </a:graphic>
      </p:graphicFrame>
    </p:spTree>
    <p:extLst>
      <p:ext uri="{BB962C8B-B14F-4D97-AF65-F5344CB8AC3E}">
        <p14:creationId xmlns:p14="http://schemas.microsoft.com/office/powerpoint/2010/main" val="12736362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7466709E-297F-4B78-ADB7-8F520C9D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A32"/>
                </a:solidFill>
                <a:latin typeface="Arial"/>
                <a:ea typeface="Arial"/>
                <a:cs typeface="Arial"/>
              </a:rPr>
              <a:t>Reflection across the y-axis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CFE696B-C0BE-43B8-8B47-A518BF74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46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C61DBDE-8E0F-4CAE-894C-0865390A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6F63"/>
                </a:solidFill>
                <a:latin typeface="Arial"/>
                <a:ea typeface="Arial"/>
                <a:cs typeface="Arial"/>
              </a:rPr>
              <a:t>g(x) = f(−x)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E2B9DEB-7648-4460-8779-5FF0D53E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42A32"/>
                </a:solidFill>
                <a:latin typeface="Arial"/>
                <a:ea typeface="Arial"/>
                <a:cs typeface="Arial"/>
              </a:rPr>
              <a:t>(u, v) becomes (−u, v)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B7B3D9C-BEAD-4B2A-8F9B-F89F3677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5095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A32"/>
                </a:solidFill>
                <a:latin typeface="Arial"/>
                <a:ea typeface="Arial"/>
                <a:cs typeface="Arial"/>
              </a:rPr>
              <a:t>Compare with −f(x):</a:t>
            </a:r>
          </a:p>
          <a:p xmlns:a="http://schemas.openxmlformats.org/drawingml/2006/main">
            <a:pPr>
              <a:defRPr sz="21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A32"/>
                </a:solidFill>
                <a:latin typeface="Arial"/>
                <a:ea typeface="Arial"/>
                <a:cs typeface="Arial"/>
              </a:rPr>
              <a:t>Which coordinate changes sign?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A6AA2077-7B5A-4C8E-AE4F-5099191CAF4E}"/>
              </a:ext>
            </a:extLst>
          </p:cNvPr>
          <p:cNvGraphicFramePr/>
          <p:nvPr/>
        </p:nvGraphicFramePr>
        <p:xfrm>
          <a:off xmlns:a="http://schemas.openxmlformats.org/drawingml/2006/main" x="5762625" y="14287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ca94749b7f94553"/>
          </a:graphicData>
        </a:graphic>
      </p:graphicFrame>
    </p:spTree>
    <p:extLst>
      <p:ext uri="{BB962C8B-B14F-4D97-AF65-F5344CB8AC3E}">
        <p14:creationId xmlns:p14="http://schemas.microsoft.com/office/powerpoint/2010/main" val="19704791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EC148125-ACB3-4D79-A61F-CE0475C2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A32"/>
                </a:solidFill>
                <a:latin typeface="Arial"/>
                <a:ea typeface="Arial"/>
                <a:cs typeface="Arial"/>
              </a:rPr>
              <a:t>A claim to challenge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BE0B66C-5CA6-4477-B191-D19FCD7B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46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C5F89FA-F6F1-4F6F-83A5-FC930634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D9682F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D9682F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D9682F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D9682F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D9682F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D9682F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D9682F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D9682F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D9682F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D96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D9682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D9682F"/>
                </a:solidFill>
                <a:latin typeface="Arial"/>
                <a:ea typeface="Arial"/>
                <a:cs typeface="Arial"/>
              </a:rPr>
              <a:t>“f(2x) stretches the graph horizontally</a:t>
            </a:r>
          </a:p>
          <a:p xmlns:a="http://schemas.openxmlformats.org/drawingml/2006/main">
            <a:pPr>
              <a:defRPr sz="3000" b="1">
                <a:solidFill>
                  <a:srgbClr val="D9682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D9682F"/>
                </a:solidFill>
                <a:latin typeface="Arial"/>
                <a:ea typeface="Arial"/>
                <a:cs typeface="Arial"/>
              </a:rPr>
              <a:t>by a factor of 2.”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49AB269-F985-463F-AAE1-AB77B738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42A32"/>
                </a:solidFill>
                <a:latin typeface="Arial"/>
                <a:ea typeface="Arial"/>
                <a:cs typeface="Arial"/>
              </a:rPr>
              <a:t>Suppose f(4) = 6.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6F8C661-6B64-4936-B42E-A24852A3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A32"/>
                </a:solidFill>
                <a:latin typeface="Arial"/>
                <a:ea typeface="Arial"/>
                <a:cs typeface="Arial"/>
              </a:rPr>
              <a:t>1. Which point must lie on g(x) = f(2x)?</a:t>
            </a:r>
          </a:p>
          <a:p xmlns:a="http://schemas.openxmlformats.org/drawingml/2006/main">
            <a: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A32"/>
                </a:solidFill>
                <a:latin typeface="Arial"/>
                <a:ea typeface="Arial"/>
                <a:cs typeface="Arial"/>
              </a:rPr>
              <a:t>2. Does that point support the claim?</a:t>
            </a:r>
          </a:p>
        </p:txBody>
      </p:sp>
    </p:spTree>
    <p:extLst>
      <p:ext uri="{BB962C8B-B14F-4D97-AF65-F5344CB8AC3E}">
        <p14:creationId xmlns:p14="http://schemas.microsoft.com/office/powerpoint/2010/main" val="19140714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A3DA352F-C924-4B7B-893D-2FFDF6A4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A32"/>
                </a:solidFill>
                <a:latin typeface="Arial"/>
                <a:ea typeface="Arial"/>
                <a:cs typeface="Arial"/>
              </a:rPr>
              <a:t>Combining transformations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46B5AEA-EC1F-4486-8558-C931598C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46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C95DBA4-2C65-4028-AFBC-D3699C61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6F63"/>
                </a:solidFill>
                <a:latin typeface="Arial"/>
                <a:ea typeface="Arial"/>
                <a:cs typeface="Arial"/>
              </a:rPr>
              <a:t>g(x) = −2f(x − 1) + 3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2ABC7E-8E54-473C-8A7D-615D3E2A4CE6}"/>
              </a:ext>
            </a:extLst>
          </p:cNvPr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98500"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Coordinate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2D2"/>
                      </a:solidFill>
                      <a:prstDash val="solid"/>
                    </a:lnL>
                    <a:lnR w="9525">
                      <a:solidFill>
                        <a:srgbClr val="C9D2D2"/>
                      </a:solidFill>
                      <a:prstDash val="solid"/>
                    </a:lnR>
                    <a:lnT w="9525">
                      <a:solidFill>
                        <a:srgbClr val="C9D2D2"/>
                      </a:solidFill>
                      <a:prstDash val="solid"/>
                    </a:lnT>
                    <a:lnB w="9525">
                      <a:solidFill>
                        <a:srgbClr val="C9D2D2"/>
                      </a:solidFill>
                      <a:prstDash val="solid"/>
                    </a:lnB>
                    <a:solidFill>
                      <a:srgbClr val="142A32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happens?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2D2"/>
                      </a:solidFill>
                      <a:prstDash val="solid"/>
                    </a:lnR>
                    <a:lnT w="9525">
                      <a:solidFill>
                        <a:srgbClr val="C9D2D2"/>
                      </a:solidFill>
                      <a:prstDash val="solid"/>
                    </a:lnT>
                    <a:lnB w="9525">
                      <a:solidFill>
                        <a:srgbClr val="C9D2D2"/>
                      </a:solidFill>
                      <a:prstDash val="solid"/>
                    </a:lnB>
                    <a:solidFill>
                      <a:srgbClr val="142A32"/>
                    </a:solidFill>
                  </a:tcPr>
                </a:tc>
              </a:tr>
              <a:tr h="698500"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950" b="0">
                          <a:solidFill>
                            <a:srgbClr val="142A32"/>
                          </a:solidFill>
                          <a:latin typeface="Arial"/>
                          <a:ea typeface="Arial"/>
                          <a:cs typeface="Arial"/>
                        </a:rPr>
                        <a:t>Input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2D2"/>
                      </a:solidFill>
                      <a:prstDash val="solid"/>
                    </a:lnL>
                    <a:lnR w="9525">
                      <a:solidFill>
                        <a:srgbClr val="C9D2D2"/>
                      </a:solidFill>
                      <a:prstDash val="solid"/>
                    </a:lnR>
                    <a:lnB w="9525">
                      <a:solidFill>
                        <a:srgbClr val="C9D2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950" b="0">
                          <a:solidFill>
                            <a:srgbClr val="142A32"/>
                          </a:solidFill>
                          <a:latin typeface="Arial"/>
                          <a:ea typeface="Arial"/>
                          <a:cs typeface="Arial"/>
                        </a:rPr>
                        <a:t>x − 1 = u, so x = u + 1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2D2"/>
                      </a:solidFill>
                      <a:prstDash val="solid"/>
                    </a:lnR>
                    <a:lnB w="9525">
                      <a:solidFill>
                        <a:srgbClr val="C9D2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950" b="0">
                          <a:solidFill>
                            <a:srgbClr val="142A32"/>
                          </a:solidFill>
                          <a:latin typeface="Arial"/>
                          <a:ea typeface="Arial"/>
                          <a:cs typeface="Arial"/>
                        </a:rPr>
                        <a:t>Output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2D2"/>
                      </a:solidFill>
                      <a:prstDash val="solid"/>
                    </a:lnL>
                    <a:lnR w="9525">
                      <a:solidFill>
                        <a:srgbClr val="C9D2D2"/>
                      </a:solidFill>
                      <a:prstDash val="solid"/>
                    </a:lnR>
                    <a:lnB w="9525">
                      <a:solidFill>
                        <a:srgbClr val="C9D2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950" b="0">
                          <a:solidFill>
                            <a:srgbClr val="142A32"/>
                          </a:solidFill>
                          <a:latin typeface="Arial"/>
                          <a:ea typeface="Arial"/>
                          <a:cs typeface="Arial"/>
                        </a:rPr>
                        <a:t>y = −2v + 3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2D2"/>
                      </a:solidFill>
                      <a:prstDash val="solid"/>
                    </a:lnR>
                    <a:lnB w="9525">
                      <a:solidFill>
                        <a:srgbClr val="C9D2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09F969E1-C779-46DE-94FD-2896D1BE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A32"/>
                </a:solidFill>
                <a:latin typeface="Arial"/>
                <a:ea typeface="Arial"/>
                <a:cs typeface="Arial"/>
              </a:rPr>
              <a:t>General rule:  (u, v) becomes (u/b + h, av + k)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56C4780A-324B-419C-88DB-50D57C4E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46A"/>
                </a:solidFill>
                <a:latin typeface="Arial"/>
                <a:ea typeface="Arial"/>
                <a:cs typeface="Arial"/>
              </a:rPr>
              <a:t>for g(x) = a f(b(x − h)) + k, with a ≠ 0 and b ≠ 0</a:t>
            </a:r>
          </a:p>
        </p:txBody>
      </p:sp>
    </p:spTree>
    <p:extLst>
      <p:ext uri="{BB962C8B-B14F-4D97-AF65-F5344CB8AC3E}">
        <p14:creationId xmlns:p14="http://schemas.microsoft.com/office/powerpoint/2010/main" val="1972574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072A89C8-9416-4BCE-9DC0-86A9BBE2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A32"/>
                </a:solidFill>
                <a:latin typeface="Arial"/>
                <a:ea typeface="Arial"/>
                <a:cs typeface="Arial"/>
              </a:rPr>
              <a:t>A new graph from four anchor points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1B2E0C1-B7EC-4358-8646-37488D3A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46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494D13A-EEC5-40D4-8B77-1006F0A1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6F63"/>
                </a:solidFill>
                <a:latin typeface="Arial"/>
                <a:ea typeface="Arial"/>
                <a:cs typeface="Arial"/>
              </a:rPr>
              <a:t>g(x) = −2f(x − 1) + 3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509E80-2C30-4367-9BBC-3A34AB83765F}"/>
              </a:ext>
            </a:extLst>
          </p:cNvPr>
          <p:cNvGraphicFramePr/>
          <p:nvPr/>
        </p:nvGraphicFramePr>
        <p:xfrm>
          <a:off xmlns:a="http://schemas.openxmlformats.org/drawingml/2006/main" x="609600" y="2476500"/>
          <a:ext xmlns:a="http://schemas.openxmlformats.org/drawingml/2006/main" cx="47625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2381250"/>
              </a:tblGrid>
              <a:tr h="571500"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On f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2D2"/>
                      </a:solidFill>
                      <a:prstDash val="solid"/>
                    </a:lnL>
                    <a:lnR w="9525">
                      <a:solidFill>
                        <a:srgbClr val="C9D2D2"/>
                      </a:solidFill>
                      <a:prstDash val="solid"/>
                    </a:lnR>
                    <a:lnT w="9525">
                      <a:solidFill>
                        <a:srgbClr val="C9D2D2"/>
                      </a:solidFill>
                      <a:prstDash val="solid"/>
                    </a:lnT>
                    <a:lnB w="9525">
                      <a:solidFill>
                        <a:srgbClr val="C9D2D2"/>
                      </a:solidFill>
                      <a:prstDash val="solid"/>
                    </a:lnB>
                    <a:solidFill>
                      <a:srgbClr val="142A32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On g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2D2"/>
                      </a:solidFill>
                      <a:prstDash val="solid"/>
                    </a:lnR>
                    <a:lnT w="9525">
                      <a:solidFill>
                        <a:srgbClr val="C9D2D2"/>
                      </a:solidFill>
                      <a:prstDash val="solid"/>
                    </a:lnT>
                    <a:lnB w="9525">
                      <a:solidFill>
                        <a:srgbClr val="C9D2D2"/>
                      </a:solidFill>
                      <a:prstDash val="solid"/>
                    </a:lnB>
                    <a:solidFill>
                      <a:srgbClr val="142A32"/>
                    </a:solidFill>
                  </a:tcPr>
                </a:tc>
              </a:tr>
              <a:tr h="571500"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950" b="0">
                          <a:solidFill>
                            <a:srgbClr val="142A32"/>
                          </a:solidFill>
                          <a:latin typeface="Arial"/>
                          <a:ea typeface="Arial"/>
                          <a:cs typeface="Arial"/>
                        </a:rPr>
                        <a:t>(−3, 0)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2D2"/>
                      </a:solidFill>
                      <a:prstDash val="solid"/>
                    </a:lnL>
                    <a:lnR w="9525">
                      <a:solidFill>
                        <a:srgbClr val="C9D2D2"/>
                      </a:solidFill>
                      <a:prstDash val="solid"/>
                    </a:lnR>
                    <a:lnB w="9525">
                      <a:solidFill>
                        <a:srgbClr val="C9D2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950" b="0">
                          <a:solidFill>
                            <a:srgbClr val="142A32"/>
                          </a:solidFill>
                          <a:latin typeface="Arial"/>
                          <a:ea typeface="Arial"/>
                          <a:cs typeface="Arial"/>
                        </a:rPr>
                        <a:t>(−2, 3)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2D2"/>
                      </a:solidFill>
                      <a:prstDash val="solid"/>
                    </a:lnR>
                    <a:lnB w="9525">
                      <a:solidFill>
                        <a:srgbClr val="C9D2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950" b="0">
                          <a:solidFill>
                            <a:srgbClr val="142A32"/>
                          </a:solidFill>
                          <a:latin typeface="Arial"/>
                          <a:ea typeface="Arial"/>
                          <a:cs typeface="Arial"/>
                        </a:rPr>
                        <a:t>(−1, 4)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2D2"/>
                      </a:solidFill>
                      <a:prstDash val="solid"/>
                    </a:lnL>
                    <a:lnR w="9525">
                      <a:solidFill>
                        <a:srgbClr val="C9D2D2"/>
                      </a:solidFill>
                      <a:prstDash val="solid"/>
                    </a:lnR>
                    <a:lnB w="9525">
                      <a:solidFill>
                        <a:srgbClr val="C9D2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950" b="0">
                          <a:solidFill>
                            <a:srgbClr val="142A32"/>
                          </a:solidFill>
                          <a:latin typeface="Arial"/>
                          <a:ea typeface="Arial"/>
                          <a:cs typeface="Arial"/>
                        </a:rPr>
                        <a:t>(0, −5)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2D2"/>
                      </a:solidFill>
                      <a:prstDash val="solid"/>
                    </a:lnR>
                    <a:lnB w="9525">
                      <a:solidFill>
                        <a:srgbClr val="C9D2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  <a:tr h="571500"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950" b="0">
                          <a:solidFill>
                            <a:srgbClr val="142A32"/>
                          </a:solidFill>
                          <a:latin typeface="Arial"/>
                          <a:ea typeface="Arial"/>
                          <a:cs typeface="Arial"/>
                        </a:rPr>
                        <a:t>(1, 2)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2D2"/>
                      </a:solidFill>
                      <a:prstDash val="solid"/>
                    </a:lnL>
                    <a:lnR w="9525">
                      <a:solidFill>
                        <a:srgbClr val="C9D2D2"/>
                      </a:solidFill>
                      <a:prstDash val="solid"/>
                    </a:lnR>
                    <a:lnB w="9525">
                      <a:solidFill>
                        <a:srgbClr val="C9D2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950" b="0">
                          <a:solidFill>
                            <a:srgbClr val="142A32"/>
                          </a:solidFill>
                          <a:latin typeface="Arial"/>
                          <a:ea typeface="Arial"/>
                          <a:cs typeface="Arial"/>
                        </a:rPr>
                        <a:t>(2, −1)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2D2"/>
                      </a:solidFill>
                      <a:prstDash val="solid"/>
                    </a:lnR>
                    <a:lnB w="9525">
                      <a:solidFill>
                        <a:srgbClr val="C9D2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950" b="0">
                          <a:solidFill>
                            <a:srgbClr val="142A32"/>
                          </a:solidFill>
                          <a:latin typeface="Arial"/>
                          <a:ea typeface="Arial"/>
                          <a:cs typeface="Arial"/>
                        </a:rPr>
                        <a:t>(3, 3)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2D2"/>
                      </a:solidFill>
                      <a:prstDash val="solid"/>
                    </a:lnL>
                    <a:lnR w="9525">
                      <a:solidFill>
                        <a:srgbClr val="C9D2D2"/>
                      </a:solidFill>
                      <a:prstDash val="solid"/>
                    </a:lnR>
                    <a:lnB w="9525">
                      <a:solidFill>
                        <a:srgbClr val="C9D2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950" b="0">
                          <a:solidFill>
                            <a:srgbClr val="142A32"/>
                          </a:solidFill>
                          <a:latin typeface="Arial"/>
                          <a:ea typeface="Arial"/>
                          <a:cs typeface="Arial"/>
                        </a:rPr>
                        <a:t>(4, −3)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2D2"/>
                      </a:solidFill>
                      <a:prstDash val="solid"/>
                    </a:lnR>
                    <a:lnB w="9525">
                      <a:solidFill>
                        <a:srgbClr val="C9D2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DE4C2DB5-AC2F-4F29-B66E-BDAB9BDD9A25}"/>
              </a:ext>
            </a:extLst>
          </p:cNvPr>
          <p:cNvGraphicFramePr/>
          <p:nvPr/>
        </p:nvGraphicFramePr>
        <p:xfrm>
          <a:off xmlns:a="http://schemas.openxmlformats.org/drawingml/2006/main" x="5762625" y="1428750"/>
          <a:ext xmlns:a="http://schemas.openxmlformats.org/drawingml/2006/main" cx="5810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ff48162288c4a23"/>
          </a:graphicData>
        </a:graphic>
      </p:graphicFrame>
    </p:spTree>
    <p:extLst>
      <p:ext uri="{BB962C8B-B14F-4D97-AF65-F5344CB8AC3E}">
        <p14:creationId xmlns:p14="http://schemas.microsoft.com/office/powerpoint/2010/main" val="9161798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8A99E3CA-950E-4C79-9A4B-A3841FA0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A32"/>
                </a:solidFill>
                <a:latin typeface="Arial"/>
                <a:ea typeface="Arial"/>
                <a:cs typeface="Arial"/>
              </a:rPr>
              <a:t>Domain and range move too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093D8C3-3FC2-4D9C-A0A7-6617EE7D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46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650D7C1-EB3A-42A9-88E9-C79A96A4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6F63"/>
                </a:solidFill>
                <a:latin typeface="Arial"/>
                <a:ea typeface="Arial"/>
                <a:cs typeface="Arial"/>
              </a:rPr>
              <a:t>g(x) = −2f(x − 1) + 3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5956BE-0FDF-4B88-AD3C-8D72359C00CE}"/>
              </a:ext>
            </a:extLst>
          </p:cNvPr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200525"/>
                <a:gridCol w="4200525"/>
              </a:tblGrid>
              <a:tr h="762000"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2D2"/>
                      </a:solidFill>
                      <a:prstDash val="solid"/>
                    </a:lnL>
                    <a:lnR w="9525">
                      <a:solidFill>
                        <a:srgbClr val="C9D2D2"/>
                      </a:solidFill>
                      <a:prstDash val="solid"/>
                    </a:lnR>
                    <a:lnT w="9525">
                      <a:solidFill>
                        <a:srgbClr val="C9D2D2"/>
                      </a:solidFill>
                      <a:prstDash val="solid"/>
                    </a:lnT>
                    <a:lnB w="9525">
                      <a:solidFill>
                        <a:srgbClr val="C9D2D2"/>
                      </a:solidFill>
                      <a:prstDash val="solid"/>
                    </a:lnB>
                    <a:solidFill>
                      <a:srgbClr val="142A32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Original f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2D2"/>
                      </a:solidFill>
                      <a:prstDash val="solid"/>
                    </a:lnR>
                    <a:lnT w="9525">
                      <a:solidFill>
                        <a:srgbClr val="C9D2D2"/>
                      </a:solidFill>
                      <a:prstDash val="solid"/>
                    </a:lnT>
                    <a:lnB w="9525">
                      <a:solidFill>
                        <a:srgbClr val="C9D2D2"/>
                      </a:solidFill>
                      <a:prstDash val="solid"/>
                    </a:lnB>
                    <a:solidFill>
                      <a:srgbClr val="142A32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Transformed g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2D2"/>
                      </a:solidFill>
                      <a:prstDash val="solid"/>
                    </a:lnR>
                    <a:lnT w="9525">
                      <a:solidFill>
                        <a:srgbClr val="C9D2D2"/>
                      </a:solidFill>
                      <a:prstDash val="solid"/>
                    </a:lnT>
                    <a:lnB w="9525">
                      <a:solidFill>
                        <a:srgbClr val="C9D2D2"/>
                      </a:solidFill>
                      <a:prstDash val="solid"/>
                    </a:lnB>
                    <a:solidFill>
                      <a:srgbClr val="142A32"/>
                    </a:solidFill>
                  </a:tcPr>
                </a:tc>
              </a:tr>
              <a:tr h="762000"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950" b="0">
                          <a:solidFill>
                            <a:srgbClr val="142A32"/>
                          </a:solidFill>
                          <a:latin typeface="Arial"/>
                          <a:ea typeface="Arial"/>
                          <a:cs typeface="Arial"/>
                        </a:rPr>
                        <a:t>Domain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2D2"/>
                      </a:solidFill>
                      <a:prstDash val="solid"/>
                    </a:lnL>
                    <a:lnR w="9525">
                      <a:solidFill>
                        <a:srgbClr val="C9D2D2"/>
                      </a:solidFill>
                      <a:prstDash val="solid"/>
                    </a:lnR>
                    <a:lnB w="9525">
                      <a:solidFill>
                        <a:srgbClr val="C9D2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950" b="0">
                          <a:solidFill>
                            <a:srgbClr val="142A32"/>
                          </a:solidFill>
                          <a:latin typeface="Arial"/>
                          <a:ea typeface="Arial"/>
                          <a:cs typeface="Arial"/>
                        </a:rPr>
                        <a:t>[−3, 3]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2D2"/>
                      </a:solidFill>
                      <a:prstDash val="solid"/>
                    </a:lnR>
                    <a:lnB w="9525">
                      <a:solidFill>
                        <a:srgbClr val="C9D2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950" b="0">
                          <a:solidFill>
                            <a:srgbClr val="142A32"/>
                          </a:solidFill>
                          <a:latin typeface="Arial"/>
                          <a:ea typeface="Arial"/>
                          <a:cs typeface="Arial"/>
                        </a:rPr>
                        <a:t>[−2, 4]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2D2"/>
                      </a:solidFill>
                      <a:prstDash val="solid"/>
                    </a:lnR>
                    <a:lnB w="9525">
                      <a:solidFill>
                        <a:srgbClr val="C9D2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950" b="0">
                          <a:solidFill>
                            <a:srgbClr val="142A32"/>
                          </a:solidFill>
                          <a:latin typeface="Arial"/>
                          <a:ea typeface="Arial"/>
                          <a:cs typeface="Arial"/>
                        </a:rPr>
                        <a:t>Range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2D2"/>
                      </a:solidFill>
                      <a:prstDash val="solid"/>
                    </a:lnL>
                    <a:lnR w="9525">
                      <a:solidFill>
                        <a:srgbClr val="C9D2D2"/>
                      </a:solidFill>
                      <a:prstDash val="solid"/>
                    </a:lnR>
                    <a:lnB w="9525">
                      <a:solidFill>
                        <a:srgbClr val="C9D2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950" b="0">
                          <a:solidFill>
                            <a:srgbClr val="142A32"/>
                          </a:solidFill>
                          <a:latin typeface="Arial"/>
                          <a:ea typeface="Arial"/>
                          <a:cs typeface="Arial"/>
                        </a:rPr>
                        <a:t>[0, 4]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2D2"/>
                      </a:solidFill>
                      <a:prstDash val="solid"/>
                    </a:lnR>
                    <a:lnB w="9525">
                      <a:solidFill>
                        <a:srgbClr val="C9D2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950" b="0">
                          <a:solidFill>
                            <a:srgbClr val="142A32"/>
                          </a:solidFill>
                          <a:latin typeface="Arial"/>
                          <a:ea typeface="Arial"/>
                          <a:cs typeface="Arial"/>
                        </a:rPr>
                        <a:t>[−5, 3]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2D2"/>
                      </a:solidFill>
                      <a:prstDash val="solid"/>
                    </a:lnR>
                    <a:lnB w="9525">
                      <a:solidFill>
                        <a:srgbClr val="C9D2D2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69F34291-08B2-4245-9292-5C28A329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A32"/>
                </a:solidFill>
                <a:latin typeface="Arial"/>
                <a:ea typeface="Arial"/>
                <a:cs typeface="Arial"/>
              </a:rPr>
              <a:t>Why is the new range [−5, 3], rather than [3, −5]?</a:t>
            </a:r>
          </a:p>
        </p:txBody>
      </p:sp>
    </p:spTree>
    <p:extLst>
      <p:ext uri="{BB962C8B-B14F-4D97-AF65-F5344CB8AC3E}">
        <p14:creationId xmlns:p14="http://schemas.microsoft.com/office/powerpoint/2010/main" val="33818837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0425F844-BC88-4CB6-90D0-0675CC81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A32"/>
                </a:solidFill>
                <a:latin typeface="Arial"/>
                <a:ea typeface="Arial"/>
                <a:cs typeface="Arial"/>
              </a:rPr>
              <a:t>Partner task: build the transformation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010A9A3-9DC4-4A49-A5A5-2B89DFA4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46A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949CFB4-7669-4AE5-8866-FE157069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26F63"/>
                </a:solidFill>
                <a:latin typeface="Arial"/>
                <a:ea typeface="Arial"/>
                <a:cs typeface="Arial"/>
              </a:rPr>
              <a:t>Shift right 2. Multiply outputs by 2.</a:t>
            </a:r>
          </a:p>
          <a:p xmlns:a="http://schemas.openxmlformats.org/drawingml/2006/main">
            <a:pPr>
              <a:defRPr sz="27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26F63"/>
                </a:solidFill>
                <a:latin typeface="Arial"/>
                <a:ea typeface="Arial"/>
                <a:cs typeface="Arial"/>
              </a:rPr>
              <a:t>Then shift down 1.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B7FE88D-D8E4-4E57-8B3F-4AE52815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A32"/>
                </a:solidFill>
                <a:latin typeface="Arial"/>
                <a:ea typeface="Arial"/>
                <a:cs typeface="Arial"/>
              </a:rPr>
              <a:t>Given: f(2) = 3, domain [−2, 4], range [1, 5]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0B757E7-FF86-4634-838C-395C7376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972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A32"/>
                </a:solidFill>
                <a:latin typeface="Arial"/>
                <a:ea typeface="Arial"/>
                <a:cs typeface="Arial"/>
              </a:rPr>
              <a:t>A. Write g(x) in terms of f.</a:t>
            </a:r>
          </a:p>
          <a:p xmlns:a="http://schemas.openxmlformats.org/drawingml/2006/main">
            <a: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A32"/>
                </a:solidFill>
                <a:latin typeface="Arial"/>
                <a:ea typeface="Arial"/>
                <a:cs typeface="Arial"/>
              </a:rPr>
              <a:t>B. Track the point (2, 3).</a:t>
            </a:r>
          </a:p>
          <a:p xmlns:a="http://schemas.openxmlformats.org/drawingml/2006/main">
            <a: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A32"/>
                </a:solidFill>
                <a:latin typeface="Arial"/>
                <a:ea typeface="Arial"/>
                <a:cs typeface="Arial"/>
              </a:rPr>
              <a:t>C. Find the new domain and range.</a:t>
            </a:r>
          </a:p>
        </p:txBody>
      </p:sp>
    </p:spTree>
    <p:extLst>
      <p:ext uri="{BB962C8B-B14F-4D97-AF65-F5344CB8AC3E}">
        <p14:creationId xmlns:p14="http://schemas.microsoft.com/office/powerpoint/2010/main" val="94156344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0A19FD1E-290D-4939-BC5E-C603C54F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A32"/>
                </a:solidFill>
                <a:latin typeface="Arial"/>
                <a:ea typeface="Arial"/>
                <a:cs typeface="Arial"/>
              </a:rPr>
              <a:t>Partner task: compare your reasoning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7E5E579-E289-493A-9334-D3769FE4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46A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59C32B3-0443-4101-9F07-4229D73C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26F63"/>
                </a:solidFill>
                <a:latin typeface="Arial"/>
                <a:ea typeface="Arial"/>
                <a:cs typeface="Arial"/>
              </a:rPr>
              <a:t>g(x) = 2f(x − 2) − 1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74CB87-B8CC-4966-9AE1-C3B6BFC6F724}"/>
              </a:ext>
            </a:extLst>
          </p:cNvPr>
          <p:cNvGraphicFramePr/>
          <p:nvPr/>
        </p:nvGraphicFramePr>
        <p:xfrm>
          <a:off xmlns:a="http://schemas.openxmlformats.org/drawingml/2006/main" x="609600" y="3000375"/>
          <a:ext xmlns:a="http://schemas.openxmlformats.org/drawingml/2006/main" cx="10972800" cy="1666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2771775"/>
                <a:gridCol w="2771775"/>
              </a:tblGrid>
              <a:tr h="833438"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Point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2D2"/>
                      </a:solidFill>
                      <a:prstDash val="solid"/>
                    </a:lnL>
                    <a:lnR w="9525">
                      <a:solidFill>
                        <a:srgbClr val="C9D2D2"/>
                      </a:solidFill>
                      <a:prstDash val="solid"/>
                    </a:lnR>
                    <a:lnT w="9525">
                      <a:solidFill>
                        <a:srgbClr val="C9D2D2"/>
                      </a:solidFill>
                      <a:prstDash val="solid"/>
                    </a:lnT>
                    <a:lnB w="9525">
                      <a:solidFill>
                        <a:srgbClr val="C9D2D2"/>
                      </a:solidFill>
                      <a:prstDash val="solid"/>
                    </a:lnB>
                    <a:solidFill>
                      <a:srgbClr val="142A32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Domain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2D2"/>
                      </a:solidFill>
                      <a:prstDash val="solid"/>
                    </a:lnR>
                    <a:lnT w="9525">
                      <a:solidFill>
                        <a:srgbClr val="C9D2D2"/>
                      </a:solidFill>
                      <a:prstDash val="solid"/>
                    </a:lnT>
                    <a:lnB w="9525">
                      <a:solidFill>
                        <a:srgbClr val="C9D2D2"/>
                      </a:solidFill>
                      <a:prstDash val="solid"/>
                    </a:lnB>
                    <a:solidFill>
                      <a:srgbClr val="142A32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Range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2D2"/>
                      </a:solidFill>
                      <a:prstDash val="solid"/>
                    </a:lnR>
                    <a:lnT w="9525">
                      <a:solidFill>
                        <a:srgbClr val="C9D2D2"/>
                      </a:solidFill>
                      <a:prstDash val="solid"/>
                    </a:lnT>
                    <a:lnB w="9525">
                      <a:solidFill>
                        <a:srgbClr val="C9D2D2"/>
                      </a:solidFill>
                      <a:prstDash val="solid"/>
                    </a:lnB>
                    <a:solidFill>
                      <a:srgbClr val="142A32"/>
                    </a:solidFill>
                  </a:tcPr>
                </a:tc>
              </a:tr>
              <a:tr h="833438"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950" b="0">
                          <a:solidFill>
                            <a:srgbClr val="142A32"/>
                          </a:solidFill>
                          <a:latin typeface="Arial"/>
                          <a:ea typeface="Arial"/>
                          <a:cs typeface="Arial"/>
                        </a:rPr>
                        <a:t>(2, 3) becomes (4, 5)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2D2"/>
                      </a:solidFill>
                      <a:prstDash val="solid"/>
                    </a:lnL>
                    <a:lnR w="9525">
                      <a:solidFill>
                        <a:srgbClr val="C9D2D2"/>
                      </a:solidFill>
                      <a:prstDash val="solid"/>
                    </a:lnR>
                    <a:lnB w="9525">
                      <a:solidFill>
                        <a:srgbClr val="C9D2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950" b="0">
                          <a:solidFill>
                            <a:srgbClr val="142A32"/>
                          </a:solidFill>
                          <a:latin typeface="Arial"/>
                          <a:ea typeface="Arial"/>
                          <a:cs typeface="Arial"/>
                        </a:rPr>
                        <a:t>[0, 6]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2D2"/>
                      </a:solidFill>
                      <a:prstDash val="solid"/>
                    </a:lnR>
                    <a:lnB w="9525">
                      <a:solidFill>
                        <a:srgbClr val="C9D2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950" b="0">
                          <a:solidFill>
                            <a:srgbClr val="142A32"/>
                          </a:solidFill>
                          <a:latin typeface="Arial"/>
                          <a:ea typeface="Arial"/>
                          <a:cs typeface="Arial"/>
                        </a:rPr>
                        <a:t>[1, 9]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2D2"/>
                      </a:solidFill>
                      <a:prstDash val="solid"/>
                    </a:lnR>
                    <a:lnB w="9525">
                      <a:solidFill>
                        <a:srgbClr val="C9D2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455813A8-EB67-4C48-9194-504E2EF4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42A32"/>
                </a:solidFill>
                <a:latin typeface="Arial"/>
                <a:ea typeface="Arial"/>
                <a:cs typeface="Arial"/>
              </a:rPr>
              <a:t>Explain the horizontal shift using x − 2 = 2.</a:t>
            </a:r>
          </a:p>
        </p:txBody>
      </p:sp>
    </p:spTree>
    <p:extLst>
      <p:ext uri="{BB962C8B-B14F-4D97-AF65-F5344CB8AC3E}">
        <p14:creationId xmlns:p14="http://schemas.microsoft.com/office/powerpoint/2010/main" val="154532860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DF747493-2C30-4962-BE64-7D0C1CD0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A32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2EDBC6A-9FF2-46B5-8DE3-DBD48D9A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46A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A660978-BBE6-418D-97F1-E35C5A1B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42A32"/>
                </a:solidFill>
                <a:latin typeface="Arial"/>
                <a:ea typeface="Arial"/>
                <a:cs typeface="Arial"/>
              </a:rPr>
              <a:t>1. Suppose f(4) = 3.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6D78F4E-3D1F-4878-8924-22259E5F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42A32"/>
                </a:solidFill>
                <a:latin typeface="Arial"/>
                <a:ea typeface="Arial"/>
                <a:cs typeface="Arial"/>
              </a:rPr>
              <a:t>    Find a point on g(x) = −f(x/2) + 1.</a:t>
            </a:r>
          </a:p>
          <a:p xmlns:a="http://schemas.openxmlformats.org/drawingml/2006/main">
            <a:pPr>
              <a:defRPr sz="24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42A32"/>
                </a:solidFill>
                <a:latin typeface="Arial"/>
                <a:ea typeface="Arial"/>
                <a:cs typeface="Arial"/>
              </a:rPr>
              <a:t>    Show how you found the new input.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12B118F-AAAC-4F06-A161-09C912F8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42A32"/>
                </a:solidFill>
                <a:latin typeface="Arial"/>
                <a:ea typeface="Arial"/>
                <a:cs typeface="Arial"/>
              </a:rPr>
              <a:t>2. Write a formula that shifts f left 3</a:t>
            </a:r>
          </a:p>
          <a:p xmlns:a="http://schemas.openxmlformats.org/drawingml/2006/main">
            <a:pPr>
              <a:defRPr sz="24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42A32"/>
                </a:solidFill>
                <a:latin typeface="Arial"/>
                <a:ea typeface="Arial"/>
                <a:cs typeface="Arial"/>
              </a:rPr>
              <a:t>    and up 2.</a:t>
            </a:r>
          </a:p>
        </p:txBody>
      </p:sp>
    </p:spTree>
    <p:extLst>
      <p:ext uri="{BB962C8B-B14F-4D97-AF65-F5344CB8AC3E}">
        <p14:creationId xmlns:p14="http://schemas.microsoft.com/office/powerpoint/2010/main" val="185454850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22EA4570-8FEC-4FD2-9D10-0BB5CBD6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A32"/>
                </a:solidFill>
                <a:latin typeface="Arial"/>
                <a:ea typeface="Arial"/>
                <a:cs typeface="Arial"/>
              </a:rPr>
              <a:t>The point tells the story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7E6CD59-6F5F-406B-8D3B-A9B48F6E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46A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6E443B7-67D4-4852-BF78-A137A3C1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26F63"/>
                </a:solidFill>
                <a:latin typeface="Arial"/>
                <a:ea typeface="Arial"/>
                <a:cs typeface="Arial"/>
              </a:rPr>
              <a:t>g(x) = a f(b(x − h)) + k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717E682-6C0A-4C37-B1F8-7803E4B9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defPPr>
            <a:lvl1pPr>
              <a:defRPr sz="27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1pPr>
            <a:lvl2pPr>
              <a:defRPr sz="27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2pPr>
            <a:lvl3pPr>
              <a:defRPr sz="27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3pPr>
            <a:lvl4pPr>
              <a:defRPr sz="27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4pPr>
            <a:lvl5pPr>
              <a:defRPr sz="27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5pPr>
            <a:lvl6pPr>
              <a:defRPr sz="27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6pPr>
            <a:lvl7pPr>
              <a:defRPr sz="27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7pPr>
            <a:lvl8pPr>
              <a:defRPr sz="27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8pPr>
            <a:lvl9pPr>
              <a:defRPr sz="27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42A32"/>
                </a:solidFill>
                <a:latin typeface="Arial"/>
                <a:ea typeface="Arial"/>
                <a:cs typeface="Arial"/>
              </a:rPr>
              <a:t>Match the old input:   b(x − h) = u</a:t>
            </a:r>
          </a:p>
          <a:p xmlns:a="http://schemas.openxmlformats.org/drawingml/2006/main">
            <a:pPr>
              <a:defRPr sz="270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42A32"/>
                </a:solidFill>
                <a:latin typeface="Arial"/>
                <a:ea typeface="Arial"/>
                <a:cs typeface="Arial"/>
              </a:rPr>
              <a:t>Transform the output:  y = av + k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A0CBBD7-E238-4AF8-83AF-B66587A6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A32"/>
                </a:solidFill>
                <a:latin typeface="Arial"/>
                <a:ea typeface="Arial"/>
                <a:cs typeface="Arial"/>
              </a:rPr>
              <a:t>New point:  (u/b + h, av + k)</a:t>
            </a:r>
          </a:p>
        </p:txBody>
      </p:sp>
    </p:spTree>
    <p:extLst>
      <p:ext uri="{BB962C8B-B14F-4D97-AF65-F5344CB8AC3E}">
        <p14:creationId xmlns:p14="http://schemas.microsoft.com/office/powerpoint/2010/main" val="140125859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C98833E4-D7CA-4310-9134-898CBB2E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A32"/>
                </a:solidFill>
                <a:latin typeface="Arial"/>
                <a:ea typeface="Arial"/>
                <a:cs typeface="Arial"/>
              </a:rPr>
              <a:t>Extension: factor the input first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B76907B-314D-4D7D-AD2C-1EC87F69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46A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B921325-DEAB-4866-9314-6FA80F004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26F63"/>
                </a:solidFill>
                <a:latin typeface="Arial"/>
                <a:ea typeface="Arial"/>
                <a:cs typeface="Arial"/>
              </a:rPr>
              <a:t>f(2x − 6) = f(2(x − 3))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8CFD820-4DF8-42E9-A16E-E1D2005E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972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defPPr>
            <a:lvl1pPr>
              <a:defRPr sz="31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1pPr>
            <a:lvl2pPr>
              <a:defRPr sz="31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2pPr>
            <a:lvl3pPr>
              <a:defRPr sz="31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3pPr>
            <a:lvl4pPr>
              <a:defRPr sz="31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4pPr>
            <a:lvl5pPr>
              <a:defRPr sz="31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5pPr>
            <a:lvl6pPr>
              <a:defRPr sz="31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6pPr>
            <a:lvl7pPr>
              <a:defRPr sz="31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7pPr>
            <a:lvl8pPr>
              <a:defRPr sz="31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8pPr>
            <a:lvl9pPr>
              <a:defRPr sz="31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42A32"/>
                </a:solidFill>
                <a:latin typeface="Arial"/>
                <a:ea typeface="Arial"/>
                <a:cs typeface="Arial"/>
              </a:rPr>
              <a:t>2x − 6 = u</a:t>
            </a:r>
          </a:p>
          <a:p xmlns:a="http://schemas.openxmlformats.org/drawingml/2006/main">
            <a:pPr>
              <a:defRPr sz="31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42A32"/>
                </a:solidFill>
                <a:latin typeface="Arial"/>
                <a:ea typeface="Arial"/>
                <a:cs typeface="Arial"/>
              </a:rPr>
              <a:t>x = u/2 + 3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A2A66C5-9D1A-49EC-BE37-DC780A5BD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42A32"/>
                </a:solidFill>
                <a:latin typeface="Arial"/>
                <a:ea typeface="Arial"/>
                <a:cs typeface="Arial"/>
              </a:rPr>
              <a:t>If f(4) = 5, where does that point go?</a:t>
            </a:r>
          </a:p>
        </p:txBody>
      </p:sp>
    </p:spTree>
    <p:extLst>
      <p:ext uri="{BB962C8B-B14F-4D97-AF65-F5344CB8AC3E}">
        <p14:creationId xmlns:p14="http://schemas.microsoft.com/office/powerpoint/2010/main" val="173167268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E8C3430F-A247-4DB6-A035-714E1196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A32"/>
                </a:solidFill>
                <a:latin typeface="Arial"/>
                <a:ea typeface="Arial"/>
                <a:cs typeface="Arial"/>
              </a:rPr>
              <a:t>Exit ticket: answers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9F948A0-8FB7-422E-8D0C-8E596034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46A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F2C4E8B-0614-4213-B1EC-741025D5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26F63"/>
                </a:solidFill>
                <a:latin typeface="Arial"/>
                <a:ea typeface="Arial"/>
                <a:cs typeface="Arial"/>
              </a:rPr>
              <a:t>1.  (8, −2)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B32D1AC-CBFC-4747-BC6A-513E8447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42A32"/>
                </a:solidFill>
                <a:latin typeface="Arial"/>
                <a:ea typeface="Arial"/>
                <a:cs typeface="Arial"/>
              </a:rPr>
              <a:t>x/2 = 4 gives x = 8.</a:t>
            </a:r>
          </a:p>
          <a:p xmlns:a="http://schemas.openxmlformats.org/drawingml/2006/main">
            <a:pPr>
              <a:defRPr sz="25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42A32"/>
                </a:solidFill>
                <a:latin typeface="Arial"/>
                <a:ea typeface="Arial"/>
                <a:cs typeface="Arial"/>
              </a:rPr>
              <a:t>−3 + 1 gives y = −2.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D3187F0-E0CE-4A99-AF16-944D53EB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D9682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D9682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D9682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D9682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D9682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D9682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D9682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D9682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D9682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D9682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D9682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D9682F"/>
                </a:solidFill>
                <a:latin typeface="Arial"/>
                <a:ea typeface="Arial"/>
                <a:cs typeface="Arial"/>
              </a:rPr>
              <a:t>2.  h(x) = f(x + 3) + 2</a:t>
            </a:r>
          </a:p>
        </p:txBody>
      </p:sp>
    </p:spTree>
    <p:extLst>
      <p:ext uri="{BB962C8B-B14F-4D97-AF65-F5344CB8AC3E}">
        <p14:creationId xmlns:p14="http://schemas.microsoft.com/office/powerpoint/2010/main" val="188584308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F0F4B349-5DC1-437B-9150-7E68FA45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A32"/>
                </a:solidFill>
                <a:latin typeface="Arial"/>
                <a:ea typeface="Arial"/>
                <a:cs typeface="Arial"/>
              </a:rPr>
              <a:t>Practice and reference material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6CEB792-2656-43A9-A9BA-92E212EB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664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46A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F57E262-9899-4677-BB0C-A0C6A6C1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6F63"/>
                </a:solidFill>
                <a:latin typeface="Arial"/>
                <a:ea typeface="Arial"/>
                <a:cs typeface="Arial"/>
              </a:rPr>
              <a:t>College Board AP Precalculus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12A20D2-0EEE-468D-94E1-2E81E40C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A32"/>
                </a:solidFill>
                <a:latin typeface="Arial"/>
                <a:ea typeface="Arial"/>
                <a:cs typeface="Arial"/>
              </a:rPr>
              <a:t>Topic 1.12 learning objectives and scope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D5CD481-54CE-4465-88E4-2CF6CC1A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6F63"/>
                </a:solidFill>
                <a:latin typeface="Arial"/>
                <a:ea typeface="Arial"/>
                <a:cs typeface="Arial"/>
              </a:rPr>
              <a:t>FlippedMath 1.12A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2BD2588-7850-449D-87C6-6E5161BD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A32"/>
                </a:solidFill>
                <a:latin typeface="Arial"/>
                <a:ea typeface="Arial"/>
                <a:cs typeface="Arial"/>
              </a:rPr>
              <a:t>Translations: notes, practice, solutions and video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C47B926-947E-4E2B-B3AA-E6D464B8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26F6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6F63"/>
                </a:solidFill>
                <a:latin typeface="Arial"/>
                <a:ea typeface="Arial"/>
                <a:cs typeface="Arial"/>
              </a:rPr>
              <a:t>FlippedMath 1.12B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39BA2004-A807-46B0-AE46-C8D731EA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42A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A32"/>
                </a:solidFill>
                <a:latin typeface="Arial"/>
                <a:ea typeface="Arial"/>
                <a:cs typeface="Arial"/>
              </a:rPr>
              <a:t>Dilations: notes, practice, solutions and video</a:t>
            </a:r>
          </a:p>
        </p:txBody>
      </p:sp>
    </p:spTree>
    <p:extLst>
      <p:ext uri="{BB962C8B-B14F-4D97-AF65-F5344CB8AC3E}">
        <p14:creationId xmlns:p14="http://schemas.microsoft.com/office/powerpoint/2010/main" val="8652204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2026-10-20T14:27:31.8800000Z</dcterms:created>
  <dcterms:modified xsi:type="dcterms:W3CDTF">2026-10-20T14:27:31.8800000Z</dcterms:modified>
</coreProperties>
</file>